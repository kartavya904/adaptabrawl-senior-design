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omments/modernComment_10A_2B6339F1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5719BAB-FEC1-AC0E-8B8D-96ECE4EC5350}" name="Singh, Kartavya (singhk6)" initials="SK" userId="S::singhk6@mail.uc.edu::d02ce59a-bec7-4134-ba4e-8b23ff97dd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BF24FF-A753-516E-1B30-16E942B75C60}" v="421" dt="2025-10-28T01:22:59.6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omments/modernComment_10A_2B6339F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904D7E8-80CF-499E-8089-03B99B9004E5}" authorId="{35719BAB-FEC1-AC0E-8B8D-96ECE4EC5350}" created="2025-10-28T01:22:10.601">
    <pc:sldMkLst xmlns:pc="http://schemas.microsoft.com/office/powerpoint/2013/main/command">
      <pc:docMk/>
      <pc:sldMk cId="727923185" sldId="266"/>
    </pc:sldMkLst>
    <p188:txBody>
      <a:bodyPr/>
      <a:lstStyle/>
      <a:p>
        <a:r>
          <a:rPr lang="en-US"/>
          <a:t>Gotta record this asap!</a:t>
        </a:r>
      </a:p>
    </p188:txBody>
  </p188:cm>
</p188:cmLst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9C3474-76DC-4CF1-B2BA-6E9C46DF594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86B1355-357B-4874-9B3C-1D320E01F2DC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800" dirty="0">
              <a:solidFill>
                <a:srgbClr val="FFFFFF"/>
              </a:solidFill>
              <a:ea typeface="+mn-ea"/>
              <a:cs typeface="+mn-cs"/>
            </a:rPr>
            <a:t>Completed: </a:t>
          </a:r>
          <a:r>
            <a:rPr lang="en-US" sz="1800" dirty="0">
              <a:solidFill>
                <a:srgbClr val="FFFFFF"/>
              </a:solidFill>
              <a:latin typeface="Calibri"/>
              <a:ea typeface="+mn-ea"/>
              <a:cs typeface="+mn-cs"/>
            </a:rPr>
            <a:t>Professional Biography, Team Contract (signed), Design Diagrams, Tasklist, Milestone, Timeline, and Effort Matrix, Project Constraints.</a:t>
          </a:r>
          <a:endParaRPr lang="en-US" sz="1800" dirty="0">
            <a:solidFill>
              <a:srgbClr val="FFFFFF"/>
            </a:solidFill>
            <a:ea typeface="+mn-ea"/>
            <a:cs typeface="+mn-cs"/>
          </a:endParaRPr>
        </a:p>
      </dgm:t>
    </dgm:pt>
    <dgm:pt modelId="{62DD7309-0001-4904-97FF-6931949FC2AB}" type="parTrans" cxnId="{0676B247-D5AF-44D2-B4E8-115D5CC4B8EE}">
      <dgm:prSet/>
      <dgm:spPr/>
      <dgm:t>
        <a:bodyPr/>
        <a:lstStyle/>
        <a:p>
          <a:endParaRPr lang="en-US"/>
        </a:p>
      </dgm:t>
    </dgm:pt>
    <dgm:pt modelId="{A4F736EA-36A3-4EF7-84B5-9E3076890CE8}" type="sibTrans" cxnId="{0676B247-D5AF-44D2-B4E8-115D5CC4B8EE}">
      <dgm:prSet/>
      <dgm:spPr/>
      <dgm:t>
        <a:bodyPr/>
        <a:lstStyle/>
        <a:p>
          <a:endParaRPr lang="en-US"/>
        </a:p>
      </dgm:t>
    </dgm:pt>
    <dgm:pt modelId="{5800A9E3-84F0-47A8-9B80-A5A7D1690078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800" dirty="0">
              <a:solidFill>
                <a:srgbClr val="FFFFFF"/>
              </a:solidFill>
              <a:ea typeface="+mn-ea"/>
              <a:cs typeface="+mn-cs"/>
            </a:rPr>
            <a:t>Engine: Unity LTS </a:t>
          </a:r>
          <a:r>
            <a:rPr lang="en-US" sz="1800" dirty="0">
              <a:solidFill>
                <a:srgbClr val="FFFFFF"/>
              </a:solidFill>
              <a:latin typeface="Calibri"/>
              <a:ea typeface="+mn-ea"/>
              <a:cs typeface="+mn-cs"/>
            </a:rPr>
            <a:t>v3.15.1 (Editor 6000.2.6f2), Mirror Framework, C#.</a:t>
          </a:r>
          <a:endParaRPr lang="en-US" sz="1800" dirty="0">
            <a:solidFill>
              <a:srgbClr val="FFFFFF"/>
            </a:solidFill>
            <a:ea typeface="+mn-ea"/>
            <a:cs typeface="+mn-cs"/>
          </a:endParaRPr>
        </a:p>
      </dgm:t>
    </dgm:pt>
    <dgm:pt modelId="{321DE383-F7A5-42A6-960E-824335E48D02}" type="parTrans" cxnId="{502BBFB5-7264-4DD9-9899-1040B4CB00CC}">
      <dgm:prSet/>
      <dgm:spPr/>
      <dgm:t>
        <a:bodyPr/>
        <a:lstStyle/>
        <a:p>
          <a:endParaRPr lang="en-US"/>
        </a:p>
      </dgm:t>
    </dgm:pt>
    <dgm:pt modelId="{F0238F76-D31B-463D-8795-E436A7CC9BFD}" type="sibTrans" cxnId="{502BBFB5-7264-4DD9-9899-1040B4CB00CC}">
      <dgm:prSet/>
      <dgm:spPr/>
      <dgm:t>
        <a:bodyPr/>
        <a:lstStyle/>
        <a:p>
          <a:endParaRPr lang="en-US"/>
        </a:p>
      </dgm:t>
    </dgm:pt>
    <dgm:pt modelId="{AD33501B-8CAD-4E9C-880D-240056E3C591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800" dirty="0">
              <a:solidFill>
                <a:srgbClr val="FFFFFF"/>
              </a:solidFill>
              <a:ea typeface="+mn-ea"/>
              <a:cs typeface="+mn-cs"/>
            </a:rPr>
            <a:t>Repo &amp; docs created; architecture and semester plan defined</a:t>
          </a:r>
          <a:r>
            <a:rPr lang="en-US" sz="1800" dirty="0">
              <a:solidFill>
                <a:srgbClr val="FFFFFF"/>
              </a:solidFill>
              <a:latin typeface="Calibri"/>
              <a:ea typeface="+mn-ea"/>
              <a:cs typeface="+mn-cs"/>
            </a:rPr>
            <a:t> and currently in progress</a:t>
          </a:r>
          <a:r>
            <a:rPr lang="en-US" sz="1800" dirty="0">
              <a:solidFill>
                <a:srgbClr val="FFFFFF"/>
              </a:solidFill>
              <a:ea typeface="+mn-ea"/>
              <a:cs typeface="+mn-cs"/>
            </a:rPr>
            <a:t>.</a:t>
          </a:r>
        </a:p>
      </dgm:t>
    </dgm:pt>
    <dgm:pt modelId="{DD0767FD-E11F-47FC-8060-7889367B085A}" type="parTrans" cxnId="{0E45DDA8-6130-4373-9AC1-DB95F6F48F4A}">
      <dgm:prSet/>
      <dgm:spPr/>
      <dgm:t>
        <a:bodyPr/>
        <a:lstStyle/>
        <a:p>
          <a:endParaRPr lang="en-US"/>
        </a:p>
      </dgm:t>
    </dgm:pt>
    <dgm:pt modelId="{507EDA3E-6016-4B4C-9EB7-64FA4087CF95}" type="sibTrans" cxnId="{0E45DDA8-6130-4373-9AC1-DB95F6F48F4A}">
      <dgm:prSet/>
      <dgm:spPr/>
      <dgm:t>
        <a:bodyPr/>
        <a:lstStyle/>
        <a:p>
          <a:endParaRPr lang="en-US"/>
        </a:p>
      </dgm:t>
    </dgm:pt>
    <dgm:pt modelId="{AD6F1A92-EC09-4DF5-9DC7-9FDD0B077455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1800" dirty="0">
              <a:solidFill>
                <a:srgbClr val="FFFFFF"/>
              </a:solidFill>
              <a:ea typeface="+mn-ea"/>
              <a:cs typeface="+mn-cs"/>
            </a:rPr>
            <a:t>In progress: Core combat prototype (offline) and status/condition system v1; UI/HUD scaffolding; lobby flow draft.</a:t>
          </a:r>
        </a:p>
      </dgm:t>
    </dgm:pt>
    <dgm:pt modelId="{E64F72E1-EDA7-4D00-855F-715035FB1484}" type="parTrans" cxnId="{25515B89-08EE-4403-B16D-16010B640375}">
      <dgm:prSet/>
      <dgm:spPr/>
      <dgm:t>
        <a:bodyPr/>
        <a:lstStyle/>
        <a:p>
          <a:endParaRPr lang="en-US"/>
        </a:p>
      </dgm:t>
    </dgm:pt>
    <dgm:pt modelId="{C95CBC4C-248E-4924-B5A0-C2F9DBA8442C}" type="sibTrans" cxnId="{25515B89-08EE-4403-B16D-16010B640375}">
      <dgm:prSet/>
      <dgm:spPr/>
      <dgm:t>
        <a:bodyPr/>
        <a:lstStyle/>
        <a:p>
          <a:endParaRPr lang="en-US"/>
        </a:p>
      </dgm:t>
    </dgm:pt>
    <dgm:pt modelId="{D00F3E4D-0C04-4065-86DA-D2038DA1F110}" type="pres">
      <dgm:prSet presAssocID="{C09C3474-76DC-4CF1-B2BA-6E9C46DF594F}" presName="linear" presStyleCnt="0">
        <dgm:presLayoutVars>
          <dgm:animLvl val="lvl"/>
          <dgm:resizeHandles val="exact"/>
        </dgm:presLayoutVars>
      </dgm:prSet>
      <dgm:spPr/>
    </dgm:pt>
    <dgm:pt modelId="{89D3C4A5-2D5F-4F2E-859B-32D500DCB7E3}" type="pres">
      <dgm:prSet presAssocID="{F86B1355-357B-4874-9B3C-1D320E01F2D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B406142-35F0-45C3-91A3-799132F3889A}" type="pres">
      <dgm:prSet presAssocID="{A4F736EA-36A3-4EF7-84B5-9E3076890CE8}" presName="spacer" presStyleCnt="0"/>
      <dgm:spPr/>
    </dgm:pt>
    <dgm:pt modelId="{45A4D319-8072-4E5E-ABB0-D2CE8DAD1C82}" type="pres">
      <dgm:prSet presAssocID="{5800A9E3-84F0-47A8-9B80-A5A7D169007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7A36693-494F-4510-B77F-6640A03AEF08}" type="pres">
      <dgm:prSet presAssocID="{F0238F76-D31B-463D-8795-E436A7CC9BFD}" presName="spacer" presStyleCnt="0"/>
      <dgm:spPr/>
    </dgm:pt>
    <dgm:pt modelId="{227DA97E-F5A5-42AA-AA85-72ADDB68A6A1}" type="pres">
      <dgm:prSet presAssocID="{AD33501B-8CAD-4E9C-880D-240056E3C59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CF3C49A-E2EA-4348-B38E-6D89B1246BE7}" type="pres">
      <dgm:prSet presAssocID="{507EDA3E-6016-4B4C-9EB7-64FA4087CF95}" presName="spacer" presStyleCnt="0"/>
      <dgm:spPr/>
    </dgm:pt>
    <dgm:pt modelId="{A66D819D-4B0B-44BE-9CC3-DC7A0E7DD302}" type="pres">
      <dgm:prSet presAssocID="{AD6F1A92-EC09-4DF5-9DC7-9FDD0B07745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88E3016-BCAD-4F2F-9B86-3FD45904ABF4}" type="presOf" srcId="{AD6F1A92-EC09-4DF5-9DC7-9FDD0B077455}" destId="{A66D819D-4B0B-44BE-9CC3-DC7A0E7DD302}" srcOrd="0" destOrd="0" presId="urn:microsoft.com/office/officeart/2005/8/layout/vList2"/>
    <dgm:cxn modelId="{3338D341-FA22-4F2A-A3C3-F1A73152B590}" type="presOf" srcId="{5800A9E3-84F0-47A8-9B80-A5A7D1690078}" destId="{45A4D319-8072-4E5E-ABB0-D2CE8DAD1C82}" srcOrd="0" destOrd="0" presId="urn:microsoft.com/office/officeart/2005/8/layout/vList2"/>
    <dgm:cxn modelId="{0676B247-D5AF-44D2-B4E8-115D5CC4B8EE}" srcId="{C09C3474-76DC-4CF1-B2BA-6E9C46DF594F}" destId="{F86B1355-357B-4874-9B3C-1D320E01F2DC}" srcOrd="0" destOrd="0" parTransId="{62DD7309-0001-4904-97FF-6931949FC2AB}" sibTransId="{A4F736EA-36A3-4EF7-84B5-9E3076890CE8}"/>
    <dgm:cxn modelId="{34A8207A-34DD-442E-AAD0-4A94E539D8D8}" type="presOf" srcId="{C09C3474-76DC-4CF1-B2BA-6E9C46DF594F}" destId="{D00F3E4D-0C04-4065-86DA-D2038DA1F110}" srcOrd="0" destOrd="0" presId="urn:microsoft.com/office/officeart/2005/8/layout/vList2"/>
    <dgm:cxn modelId="{D074E37C-511B-4FBF-9A4C-FFE9962882A5}" type="presOf" srcId="{AD33501B-8CAD-4E9C-880D-240056E3C591}" destId="{227DA97E-F5A5-42AA-AA85-72ADDB68A6A1}" srcOrd="0" destOrd="0" presId="urn:microsoft.com/office/officeart/2005/8/layout/vList2"/>
    <dgm:cxn modelId="{25515B89-08EE-4403-B16D-16010B640375}" srcId="{C09C3474-76DC-4CF1-B2BA-6E9C46DF594F}" destId="{AD6F1A92-EC09-4DF5-9DC7-9FDD0B077455}" srcOrd="3" destOrd="0" parTransId="{E64F72E1-EDA7-4D00-855F-715035FB1484}" sibTransId="{C95CBC4C-248E-4924-B5A0-C2F9DBA8442C}"/>
    <dgm:cxn modelId="{0E45DDA8-6130-4373-9AC1-DB95F6F48F4A}" srcId="{C09C3474-76DC-4CF1-B2BA-6E9C46DF594F}" destId="{AD33501B-8CAD-4E9C-880D-240056E3C591}" srcOrd="2" destOrd="0" parTransId="{DD0767FD-E11F-47FC-8060-7889367B085A}" sibTransId="{507EDA3E-6016-4B4C-9EB7-64FA4087CF95}"/>
    <dgm:cxn modelId="{502BBFB5-7264-4DD9-9899-1040B4CB00CC}" srcId="{C09C3474-76DC-4CF1-B2BA-6E9C46DF594F}" destId="{5800A9E3-84F0-47A8-9B80-A5A7D1690078}" srcOrd="1" destOrd="0" parTransId="{321DE383-F7A5-42A6-960E-824335E48D02}" sibTransId="{F0238F76-D31B-463D-8795-E436A7CC9BFD}"/>
    <dgm:cxn modelId="{6B3977E0-F3B6-4E0E-A242-4785851478F6}" type="presOf" srcId="{F86B1355-357B-4874-9B3C-1D320E01F2DC}" destId="{89D3C4A5-2D5F-4F2E-859B-32D500DCB7E3}" srcOrd="0" destOrd="0" presId="urn:microsoft.com/office/officeart/2005/8/layout/vList2"/>
    <dgm:cxn modelId="{BE393892-565D-4460-A0A5-5FB9A910DED8}" type="presParOf" srcId="{D00F3E4D-0C04-4065-86DA-D2038DA1F110}" destId="{89D3C4A5-2D5F-4F2E-859B-32D500DCB7E3}" srcOrd="0" destOrd="0" presId="urn:microsoft.com/office/officeart/2005/8/layout/vList2"/>
    <dgm:cxn modelId="{8F5CE681-AB01-4D13-B3F4-7303D9B89281}" type="presParOf" srcId="{D00F3E4D-0C04-4065-86DA-D2038DA1F110}" destId="{AB406142-35F0-45C3-91A3-799132F3889A}" srcOrd="1" destOrd="0" presId="urn:microsoft.com/office/officeart/2005/8/layout/vList2"/>
    <dgm:cxn modelId="{EBDEB3FD-3B9E-439B-A2A3-F95D3CC14446}" type="presParOf" srcId="{D00F3E4D-0C04-4065-86DA-D2038DA1F110}" destId="{45A4D319-8072-4E5E-ABB0-D2CE8DAD1C82}" srcOrd="2" destOrd="0" presId="urn:microsoft.com/office/officeart/2005/8/layout/vList2"/>
    <dgm:cxn modelId="{5EF71F85-AAED-4B14-99E0-086D0A5D8C0B}" type="presParOf" srcId="{D00F3E4D-0C04-4065-86DA-D2038DA1F110}" destId="{47A36693-494F-4510-B77F-6640A03AEF08}" srcOrd="3" destOrd="0" presId="urn:microsoft.com/office/officeart/2005/8/layout/vList2"/>
    <dgm:cxn modelId="{7DD49F41-BCB7-4F79-AC0B-D2494544969A}" type="presParOf" srcId="{D00F3E4D-0C04-4065-86DA-D2038DA1F110}" destId="{227DA97E-F5A5-42AA-AA85-72ADDB68A6A1}" srcOrd="4" destOrd="0" presId="urn:microsoft.com/office/officeart/2005/8/layout/vList2"/>
    <dgm:cxn modelId="{79C94D1D-0F87-4D47-99D8-EB255CCF47AF}" type="presParOf" srcId="{D00F3E4D-0C04-4065-86DA-D2038DA1F110}" destId="{7CF3C49A-E2EA-4348-B38E-6D89B1246BE7}" srcOrd="5" destOrd="0" presId="urn:microsoft.com/office/officeart/2005/8/layout/vList2"/>
    <dgm:cxn modelId="{469219A3-E32F-441B-8F45-F724B0BE4B59}" type="presParOf" srcId="{D00F3E4D-0C04-4065-86DA-D2038DA1F110}" destId="{A66D819D-4B0B-44BE-9CC3-DC7A0E7DD30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6B42870-B9B8-47C8-B99E-B39F67B3F5C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6E6A3B48-B2CA-475D-BFDA-51626D7ABD87}">
      <dgm:prSet/>
      <dgm:spPr/>
      <dgm:t>
        <a:bodyPr/>
        <a:lstStyle/>
        <a:p>
          <a:r>
            <a:rPr lang="en-US" dirty="0"/>
            <a:t>Core offline combat: movement, light/heavy, block/parry, dodge; status effects v1; adaptive conditions v1.</a:t>
          </a:r>
        </a:p>
      </dgm:t>
    </dgm:pt>
    <dgm:pt modelId="{6CE1219B-5005-4F61-97E9-2D794384284A}" type="parTrans" cxnId="{C5EBBE33-9473-4A4E-8B26-8A98DD3EE53C}">
      <dgm:prSet/>
      <dgm:spPr/>
      <dgm:t>
        <a:bodyPr/>
        <a:lstStyle/>
        <a:p>
          <a:endParaRPr lang="en-US"/>
        </a:p>
      </dgm:t>
    </dgm:pt>
    <dgm:pt modelId="{EE309BB1-CC0A-4B6B-980E-EDC64577575F}" type="sibTrans" cxnId="{C5EBBE33-9473-4A4E-8B26-8A98DD3EE53C}">
      <dgm:prSet/>
      <dgm:spPr/>
      <dgm:t>
        <a:bodyPr/>
        <a:lstStyle/>
        <a:p>
          <a:endParaRPr lang="en-US"/>
        </a:p>
      </dgm:t>
    </dgm:pt>
    <dgm:pt modelId="{85E56220-A772-4D9D-8242-49BB02BDD15A}">
      <dgm:prSet/>
      <dgm:spPr/>
      <dgm:t>
        <a:bodyPr/>
        <a:lstStyle/>
        <a:p>
          <a:r>
            <a:rPr lang="en-US" dirty="0"/>
            <a:t>Online baseline: host‑authoritative 1v1, client prediction + reconciliation, room‑code lobbies via Relay/Lobby.</a:t>
          </a:r>
        </a:p>
      </dgm:t>
    </dgm:pt>
    <dgm:pt modelId="{19432726-BCFF-40F5-B738-0D70449F10D6}" type="parTrans" cxnId="{05AB3514-032D-49FC-97D8-2A14C82C8466}">
      <dgm:prSet/>
      <dgm:spPr/>
      <dgm:t>
        <a:bodyPr/>
        <a:lstStyle/>
        <a:p>
          <a:endParaRPr lang="en-US"/>
        </a:p>
      </dgm:t>
    </dgm:pt>
    <dgm:pt modelId="{DC904E76-DF52-4620-932C-2CBDA9A19A09}" type="sibTrans" cxnId="{05AB3514-032D-49FC-97D8-2A14C82C8466}">
      <dgm:prSet/>
      <dgm:spPr/>
      <dgm:t>
        <a:bodyPr/>
        <a:lstStyle/>
        <a:p>
          <a:endParaRPr lang="en-US"/>
        </a:p>
      </dgm:t>
    </dgm:pt>
    <dgm:pt modelId="{95278485-3132-4205-88F6-336B649E552D}">
      <dgm:prSet/>
      <dgm:spPr/>
      <dgm:t>
        <a:bodyPr/>
        <a:lstStyle/>
        <a:p>
          <a:r>
            <a:rPr lang="en-US" dirty="0"/>
            <a:t>Usability: controller/keyboard input maps with rebinds; readable HUD with status icons/timers.</a:t>
          </a:r>
        </a:p>
      </dgm:t>
    </dgm:pt>
    <dgm:pt modelId="{4F0D703C-CB4C-4DC2-A932-8175EB0EA340}" type="parTrans" cxnId="{EF0F96CA-7A69-400C-98F1-1B99CA675303}">
      <dgm:prSet/>
      <dgm:spPr/>
      <dgm:t>
        <a:bodyPr/>
        <a:lstStyle/>
        <a:p>
          <a:endParaRPr lang="en-US"/>
        </a:p>
      </dgm:t>
    </dgm:pt>
    <dgm:pt modelId="{BBD825E5-5FCF-4128-9036-4E871E317615}" type="sibTrans" cxnId="{EF0F96CA-7A69-400C-98F1-1B99CA675303}">
      <dgm:prSet/>
      <dgm:spPr/>
      <dgm:t>
        <a:bodyPr/>
        <a:lstStyle/>
        <a:p>
          <a:endParaRPr lang="en-US"/>
        </a:p>
      </dgm:t>
    </dgm:pt>
    <dgm:pt modelId="{7A82C05C-E9AE-44C7-B33F-19BA4682403D}">
      <dgm:prSet/>
      <dgm:spPr/>
      <dgm:t>
        <a:bodyPr/>
        <a:lstStyle/>
        <a:p>
          <a:r>
            <a:rPr lang="en-US" dirty="0"/>
            <a:t>S1 Vertical Slice build (target mid‑December): two fighters, one stage, stable online play.</a:t>
          </a:r>
        </a:p>
      </dgm:t>
    </dgm:pt>
    <dgm:pt modelId="{E1C6CB65-0E38-4F3F-8F1C-9D192CB6446B}" type="parTrans" cxnId="{51A86B29-2913-43D1-934B-33B759BCF538}">
      <dgm:prSet/>
      <dgm:spPr/>
      <dgm:t>
        <a:bodyPr/>
        <a:lstStyle/>
        <a:p>
          <a:endParaRPr lang="en-US"/>
        </a:p>
      </dgm:t>
    </dgm:pt>
    <dgm:pt modelId="{8D6D1AFF-AF40-4A1E-B2D7-32BA674E0081}" type="sibTrans" cxnId="{51A86B29-2913-43D1-934B-33B759BCF538}">
      <dgm:prSet/>
      <dgm:spPr/>
      <dgm:t>
        <a:bodyPr/>
        <a:lstStyle/>
        <a:p>
          <a:endParaRPr lang="en-US"/>
        </a:p>
      </dgm:t>
    </dgm:pt>
    <dgm:pt modelId="{039683CB-651D-4F15-B860-F0792CF65258}" type="pres">
      <dgm:prSet presAssocID="{A6B42870-B9B8-47C8-B99E-B39F67B3F5C6}" presName="root" presStyleCnt="0">
        <dgm:presLayoutVars>
          <dgm:dir/>
          <dgm:resizeHandles val="exact"/>
        </dgm:presLayoutVars>
      </dgm:prSet>
      <dgm:spPr/>
    </dgm:pt>
    <dgm:pt modelId="{A0859480-6B96-44D8-B447-A3D3ED3DADEE}" type="pres">
      <dgm:prSet presAssocID="{6E6A3B48-B2CA-475D-BFDA-51626D7ABD87}" presName="compNode" presStyleCnt="0"/>
      <dgm:spPr/>
    </dgm:pt>
    <dgm:pt modelId="{C627E18F-C931-4B18-89C5-030FD45D80AD}" type="pres">
      <dgm:prSet presAssocID="{6E6A3B48-B2CA-475D-BFDA-51626D7ABD87}" presName="bgRect" presStyleLbl="bgShp" presStyleIdx="0" presStyleCnt="4"/>
      <dgm:spPr/>
    </dgm:pt>
    <dgm:pt modelId="{2D3A8043-D551-46E5-9D88-64C487905E11}" type="pres">
      <dgm:prSet presAssocID="{6E6A3B48-B2CA-475D-BFDA-51626D7ABD8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arkler"/>
        </a:ext>
      </dgm:extLst>
    </dgm:pt>
    <dgm:pt modelId="{B1B27354-5F6C-48B3-9CDD-83812435A411}" type="pres">
      <dgm:prSet presAssocID="{6E6A3B48-B2CA-475D-BFDA-51626D7ABD87}" presName="spaceRect" presStyleCnt="0"/>
      <dgm:spPr/>
    </dgm:pt>
    <dgm:pt modelId="{7379A741-3E7B-4B77-B5FA-05E2C2957BC0}" type="pres">
      <dgm:prSet presAssocID="{6E6A3B48-B2CA-475D-BFDA-51626D7ABD87}" presName="parTx" presStyleLbl="revTx" presStyleIdx="0" presStyleCnt="4">
        <dgm:presLayoutVars>
          <dgm:chMax val="0"/>
          <dgm:chPref val="0"/>
        </dgm:presLayoutVars>
      </dgm:prSet>
      <dgm:spPr/>
    </dgm:pt>
    <dgm:pt modelId="{E35F7D87-95D4-4E0E-BC12-C71B3452B8D5}" type="pres">
      <dgm:prSet presAssocID="{EE309BB1-CC0A-4B6B-980E-EDC64577575F}" presName="sibTrans" presStyleCnt="0"/>
      <dgm:spPr/>
    </dgm:pt>
    <dgm:pt modelId="{5E436CBE-5C73-4A73-999B-67AE294659A9}" type="pres">
      <dgm:prSet presAssocID="{85E56220-A772-4D9D-8242-49BB02BDD15A}" presName="compNode" presStyleCnt="0"/>
      <dgm:spPr/>
    </dgm:pt>
    <dgm:pt modelId="{6BD03682-D6DC-4B28-B3A7-326717D3CBBE}" type="pres">
      <dgm:prSet presAssocID="{85E56220-A772-4D9D-8242-49BB02BDD15A}" presName="bgRect" presStyleLbl="bgShp" presStyleIdx="1" presStyleCnt="4"/>
      <dgm:spPr/>
    </dgm:pt>
    <dgm:pt modelId="{85C547C9-611D-4D71-A09B-2E931C01202C}" type="pres">
      <dgm:prSet presAssocID="{85E56220-A772-4D9D-8242-49BB02BDD15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F729E81B-64C7-4B73-A84D-2635FA354C89}" type="pres">
      <dgm:prSet presAssocID="{85E56220-A772-4D9D-8242-49BB02BDD15A}" presName="spaceRect" presStyleCnt="0"/>
      <dgm:spPr/>
    </dgm:pt>
    <dgm:pt modelId="{9CACD3D1-74BE-4ABC-9A01-957630FA4EBA}" type="pres">
      <dgm:prSet presAssocID="{85E56220-A772-4D9D-8242-49BB02BDD15A}" presName="parTx" presStyleLbl="revTx" presStyleIdx="1" presStyleCnt="4">
        <dgm:presLayoutVars>
          <dgm:chMax val="0"/>
          <dgm:chPref val="0"/>
        </dgm:presLayoutVars>
      </dgm:prSet>
      <dgm:spPr/>
    </dgm:pt>
    <dgm:pt modelId="{E78E190C-F672-409D-A1D9-AD4BBF1CF8CF}" type="pres">
      <dgm:prSet presAssocID="{DC904E76-DF52-4620-932C-2CBDA9A19A09}" presName="sibTrans" presStyleCnt="0"/>
      <dgm:spPr/>
    </dgm:pt>
    <dgm:pt modelId="{45F3ABFD-1331-4CA1-9A7A-3A0FB883A067}" type="pres">
      <dgm:prSet presAssocID="{95278485-3132-4205-88F6-336B649E552D}" presName="compNode" presStyleCnt="0"/>
      <dgm:spPr/>
    </dgm:pt>
    <dgm:pt modelId="{DDB96220-A737-4359-90B4-59C6F259C3F5}" type="pres">
      <dgm:prSet presAssocID="{95278485-3132-4205-88F6-336B649E552D}" presName="bgRect" presStyleLbl="bgShp" presStyleIdx="2" presStyleCnt="4"/>
      <dgm:spPr/>
    </dgm:pt>
    <dgm:pt modelId="{B1CDF9DE-46DD-4BE5-8945-EAB1A6CA84EC}" type="pres">
      <dgm:prSet presAssocID="{95278485-3132-4205-88F6-336B649E552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7B93B6F6-79F7-4D05-B551-3019A4EF2EDB}" type="pres">
      <dgm:prSet presAssocID="{95278485-3132-4205-88F6-336B649E552D}" presName="spaceRect" presStyleCnt="0"/>
      <dgm:spPr/>
    </dgm:pt>
    <dgm:pt modelId="{BF3E573D-C03B-421B-98E5-0DD060A9AFF0}" type="pres">
      <dgm:prSet presAssocID="{95278485-3132-4205-88F6-336B649E552D}" presName="parTx" presStyleLbl="revTx" presStyleIdx="2" presStyleCnt="4">
        <dgm:presLayoutVars>
          <dgm:chMax val="0"/>
          <dgm:chPref val="0"/>
        </dgm:presLayoutVars>
      </dgm:prSet>
      <dgm:spPr/>
    </dgm:pt>
    <dgm:pt modelId="{513909CF-7D36-4259-A2FD-F1984CC89E1F}" type="pres">
      <dgm:prSet presAssocID="{BBD825E5-5FCF-4128-9036-4E871E317615}" presName="sibTrans" presStyleCnt="0"/>
      <dgm:spPr/>
    </dgm:pt>
    <dgm:pt modelId="{5186DCFE-0600-461F-8AA6-26367F907BEA}" type="pres">
      <dgm:prSet presAssocID="{7A82C05C-E9AE-44C7-B33F-19BA4682403D}" presName="compNode" presStyleCnt="0"/>
      <dgm:spPr/>
    </dgm:pt>
    <dgm:pt modelId="{94FB92F6-E8D4-4BC3-AB64-C7CB19015C08}" type="pres">
      <dgm:prSet presAssocID="{7A82C05C-E9AE-44C7-B33F-19BA4682403D}" presName="bgRect" presStyleLbl="bgShp" presStyleIdx="3" presStyleCnt="4"/>
      <dgm:spPr/>
    </dgm:pt>
    <dgm:pt modelId="{527248D5-2249-4624-BA35-EF6E4A57851B}" type="pres">
      <dgm:prSet presAssocID="{7A82C05C-E9AE-44C7-B33F-19BA4682403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Organ"/>
        </a:ext>
      </dgm:extLst>
    </dgm:pt>
    <dgm:pt modelId="{4C732422-9F49-4DC2-9720-068152ADFA0A}" type="pres">
      <dgm:prSet presAssocID="{7A82C05C-E9AE-44C7-B33F-19BA4682403D}" presName="spaceRect" presStyleCnt="0"/>
      <dgm:spPr/>
    </dgm:pt>
    <dgm:pt modelId="{5B575AB1-A8D1-4A69-81E0-AF186BE5E1D2}" type="pres">
      <dgm:prSet presAssocID="{7A82C05C-E9AE-44C7-B33F-19BA4682403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5AB3514-032D-49FC-97D8-2A14C82C8466}" srcId="{A6B42870-B9B8-47C8-B99E-B39F67B3F5C6}" destId="{85E56220-A772-4D9D-8242-49BB02BDD15A}" srcOrd="1" destOrd="0" parTransId="{19432726-BCFF-40F5-B738-0D70449F10D6}" sibTransId="{DC904E76-DF52-4620-932C-2CBDA9A19A09}"/>
    <dgm:cxn modelId="{525DA420-8482-42F7-95D1-BBA05555E001}" type="presOf" srcId="{95278485-3132-4205-88F6-336B649E552D}" destId="{BF3E573D-C03B-421B-98E5-0DD060A9AFF0}" srcOrd="0" destOrd="0" presId="urn:microsoft.com/office/officeart/2018/2/layout/IconVerticalSolidList"/>
    <dgm:cxn modelId="{51A86B29-2913-43D1-934B-33B759BCF538}" srcId="{A6B42870-B9B8-47C8-B99E-B39F67B3F5C6}" destId="{7A82C05C-E9AE-44C7-B33F-19BA4682403D}" srcOrd="3" destOrd="0" parTransId="{E1C6CB65-0E38-4F3F-8F1C-9D192CB6446B}" sibTransId="{8D6D1AFF-AF40-4A1E-B2D7-32BA674E0081}"/>
    <dgm:cxn modelId="{6AA58B2C-CEFF-4BFA-BA7E-0DBAC6193396}" type="presOf" srcId="{85E56220-A772-4D9D-8242-49BB02BDD15A}" destId="{9CACD3D1-74BE-4ABC-9A01-957630FA4EBA}" srcOrd="0" destOrd="0" presId="urn:microsoft.com/office/officeart/2018/2/layout/IconVerticalSolidList"/>
    <dgm:cxn modelId="{C2784D30-7466-4180-8CEB-1AB64D70804B}" type="presOf" srcId="{A6B42870-B9B8-47C8-B99E-B39F67B3F5C6}" destId="{039683CB-651D-4F15-B860-F0792CF65258}" srcOrd="0" destOrd="0" presId="urn:microsoft.com/office/officeart/2018/2/layout/IconVerticalSolidList"/>
    <dgm:cxn modelId="{C5EBBE33-9473-4A4E-8B26-8A98DD3EE53C}" srcId="{A6B42870-B9B8-47C8-B99E-B39F67B3F5C6}" destId="{6E6A3B48-B2CA-475D-BFDA-51626D7ABD87}" srcOrd="0" destOrd="0" parTransId="{6CE1219B-5005-4F61-97E9-2D794384284A}" sibTransId="{EE309BB1-CC0A-4B6B-980E-EDC64577575F}"/>
    <dgm:cxn modelId="{EF0F96CA-7A69-400C-98F1-1B99CA675303}" srcId="{A6B42870-B9B8-47C8-B99E-B39F67B3F5C6}" destId="{95278485-3132-4205-88F6-336B649E552D}" srcOrd="2" destOrd="0" parTransId="{4F0D703C-CB4C-4DC2-A932-8175EB0EA340}" sibTransId="{BBD825E5-5FCF-4128-9036-4E871E317615}"/>
    <dgm:cxn modelId="{B5A082CB-A07F-4F58-950D-FC7BD3093ABF}" type="presOf" srcId="{7A82C05C-E9AE-44C7-B33F-19BA4682403D}" destId="{5B575AB1-A8D1-4A69-81E0-AF186BE5E1D2}" srcOrd="0" destOrd="0" presId="urn:microsoft.com/office/officeart/2018/2/layout/IconVerticalSolidList"/>
    <dgm:cxn modelId="{E887EBF0-288B-4902-A7B8-517E979964FF}" type="presOf" srcId="{6E6A3B48-B2CA-475D-BFDA-51626D7ABD87}" destId="{7379A741-3E7B-4B77-B5FA-05E2C2957BC0}" srcOrd="0" destOrd="0" presId="urn:microsoft.com/office/officeart/2018/2/layout/IconVerticalSolidList"/>
    <dgm:cxn modelId="{7F7A0D81-9B30-4349-A099-462594AD4F5F}" type="presParOf" srcId="{039683CB-651D-4F15-B860-F0792CF65258}" destId="{A0859480-6B96-44D8-B447-A3D3ED3DADEE}" srcOrd="0" destOrd="0" presId="urn:microsoft.com/office/officeart/2018/2/layout/IconVerticalSolidList"/>
    <dgm:cxn modelId="{F3388E5C-327F-45F9-B0D9-563C830A3A04}" type="presParOf" srcId="{A0859480-6B96-44D8-B447-A3D3ED3DADEE}" destId="{C627E18F-C931-4B18-89C5-030FD45D80AD}" srcOrd="0" destOrd="0" presId="urn:microsoft.com/office/officeart/2018/2/layout/IconVerticalSolidList"/>
    <dgm:cxn modelId="{DB7FE2FE-E703-4DB6-9D9C-9F0E06D5178D}" type="presParOf" srcId="{A0859480-6B96-44D8-B447-A3D3ED3DADEE}" destId="{2D3A8043-D551-46E5-9D88-64C487905E11}" srcOrd="1" destOrd="0" presId="urn:microsoft.com/office/officeart/2018/2/layout/IconVerticalSolidList"/>
    <dgm:cxn modelId="{A648D72F-5AD2-4C02-8504-C4DE41A3C753}" type="presParOf" srcId="{A0859480-6B96-44D8-B447-A3D3ED3DADEE}" destId="{B1B27354-5F6C-48B3-9CDD-83812435A411}" srcOrd="2" destOrd="0" presId="urn:microsoft.com/office/officeart/2018/2/layout/IconVerticalSolidList"/>
    <dgm:cxn modelId="{697FDF0B-F02C-46A3-A69A-F5A7E51725D5}" type="presParOf" srcId="{A0859480-6B96-44D8-B447-A3D3ED3DADEE}" destId="{7379A741-3E7B-4B77-B5FA-05E2C2957BC0}" srcOrd="3" destOrd="0" presId="urn:microsoft.com/office/officeart/2018/2/layout/IconVerticalSolidList"/>
    <dgm:cxn modelId="{314A7359-D0E2-4744-B24D-C357D346BC39}" type="presParOf" srcId="{039683CB-651D-4F15-B860-F0792CF65258}" destId="{E35F7D87-95D4-4E0E-BC12-C71B3452B8D5}" srcOrd="1" destOrd="0" presId="urn:microsoft.com/office/officeart/2018/2/layout/IconVerticalSolidList"/>
    <dgm:cxn modelId="{5036BC28-95E2-4439-A80F-3F94FA852574}" type="presParOf" srcId="{039683CB-651D-4F15-B860-F0792CF65258}" destId="{5E436CBE-5C73-4A73-999B-67AE294659A9}" srcOrd="2" destOrd="0" presId="urn:microsoft.com/office/officeart/2018/2/layout/IconVerticalSolidList"/>
    <dgm:cxn modelId="{DA58492D-E9EF-4239-89A8-9464CA8880AD}" type="presParOf" srcId="{5E436CBE-5C73-4A73-999B-67AE294659A9}" destId="{6BD03682-D6DC-4B28-B3A7-326717D3CBBE}" srcOrd="0" destOrd="0" presId="urn:microsoft.com/office/officeart/2018/2/layout/IconVerticalSolidList"/>
    <dgm:cxn modelId="{7CA219F8-7DDB-4552-979D-9C00F5BEEAC2}" type="presParOf" srcId="{5E436CBE-5C73-4A73-999B-67AE294659A9}" destId="{85C547C9-611D-4D71-A09B-2E931C01202C}" srcOrd="1" destOrd="0" presId="urn:microsoft.com/office/officeart/2018/2/layout/IconVerticalSolidList"/>
    <dgm:cxn modelId="{D5DE54BB-2FEC-4658-AA7E-0F70126ABCDF}" type="presParOf" srcId="{5E436CBE-5C73-4A73-999B-67AE294659A9}" destId="{F729E81B-64C7-4B73-A84D-2635FA354C89}" srcOrd="2" destOrd="0" presId="urn:microsoft.com/office/officeart/2018/2/layout/IconVerticalSolidList"/>
    <dgm:cxn modelId="{065BACD8-E11B-460F-B082-F0812D690368}" type="presParOf" srcId="{5E436CBE-5C73-4A73-999B-67AE294659A9}" destId="{9CACD3D1-74BE-4ABC-9A01-957630FA4EBA}" srcOrd="3" destOrd="0" presId="urn:microsoft.com/office/officeart/2018/2/layout/IconVerticalSolidList"/>
    <dgm:cxn modelId="{36F62E8F-B795-4CCC-A816-A749DFC77476}" type="presParOf" srcId="{039683CB-651D-4F15-B860-F0792CF65258}" destId="{E78E190C-F672-409D-A1D9-AD4BBF1CF8CF}" srcOrd="3" destOrd="0" presId="urn:microsoft.com/office/officeart/2018/2/layout/IconVerticalSolidList"/>
    <dgm:cxn modelId="{67AE8C60-2594-460A-99A3-B6746F7C5E23}" type="presParOf" srcId="{039683CB-651D-4F15-B860-F0792CF65258}" destId="{45F3ABFD-1331-4CA1-9A7A-3A0FB883A067}" srcOrd="4" destOrd="0" presId="urn:microsoft.com/office/officeart/2018/2/layout/IconVerticalSolidList"/>
    <dgm:cxn modelId="{79CA3730-C0E7-4F11-9159-F538EA46DD7A}" type="presParOf" srcId="{45F3ABFD-1331-4CA1-9A7A-3A0FB883A067}" destId="{DDB96220-A737-4359-90B4-59C6F259C3F5}" srcOrd="0" destOrd="0" presId="urn:microsoft.com/office/officeart/2018/2/layout/IconVerticalSolidList"/>
    <dgm:cxn modelId="{6354EC25-792B-4A99-A8B9-8F6B2A750AA2}" type="presParOf" srcId="{45F3ABFD-1331-4CA1-9A7A-3A0FB883A067}" destId="{B1CDF9DE-46DD-4BE5-8945-EAB1A6CA84EC}" srcOrd="1" destOrd="0" presId="urn:microsoft.com/office/officeart/2018/2/layout/IconVerticalSolidList"/>
    <dgm:cxn modelId="{05ECCA49-FB24-4C8C-8EAF-EB17D6F56DDC}" type="presParOf" srcId="{45F3ABFD-1331-4CA1-9A7A-3A0FB883A067}" destId="{7B93B6F6-79F7-4D05-B551-3019A4EF2EDB}" srcOrd="2" destOrd="0" presId="urn:microsoft.com/office/officeart/2018/2/layout/IconVerticalSolidList"/>
    <dgm:cxn modelId="{0A7DD21C-B8CB-4400-A362-AE0DDF3B4FA1}" type="presParOf" srcId="{45F3ABFD-1331-4CA1-9A7A-3A0FB883A067}" destId="{BF3E573D-C03B-421B-98E5-0DD060A9AFF0}" srcOrd="3" destOrd="0" presId="urn:microsoft.com/office/officeart/2018/2/layout/IconVerticalSolidList"/>
    <dgm:cxn modelId="{1491F3F4-54AF-46E4-B150-F099FE271232}" type="presParOf" srcId="{039683CB-651D-4F15-B860-F0792CF65258}" destId="{513909CF-7D36-4259-A2FD-F1984CC89E1F}" srcOrd="5" destOrd="0" presId="urn:microsoft.com/office/officeart/2018/2/layout/IconVerticalSolidList"/>
    <dgm:cxn modelId="{B576C3A1-91F8-45CE-B951-1C584F41296E}" type="presParOf" srcId="{039683CB-651D-4F15-B860-F0792CF65258}" destId="{5186DCFE-0600-461F-8AA6-26367F907BEA}" srcOrd="6" destOrd="0" presId="urn:microsoft.com/office/officeart/2018/2/layout/IconVerticalSolidList"/>
    <dgm:cxn modelId="{4FF79026-779D-42DB-868E-DE6C9B02C32E}" type="presParOf" srcId="{5186DCFE-0600-461F-8AA6-26367F907BEA}" destId="{94FB92F6-E8D4-4BC3-AB64-C7CB19015C08}" srcOrd="0" destOrd="0" presId="urn:microsoft.com/office/officeart/2018/2/layout/IconVerticalSolidList"/>
    <dgm:cxn modelId="{967A4CAA-9CC6-4F94-BE9C-01C07C082734}" type="presParOf" srcId="{5186DCFE-0600-461F-8AA6-26367F907BEA}" destId="{527248D5-2249-4624-BA35-EF6E4A57851B}" srcOrd="1" destOrd="0" presId="urn:microsoft.com/office/officeart/2018/2/layout/IconVerticalSolidList"/>
    <dgm:cxn modelId="{02A834D9-7929-41DA-90A6-87FC3DC5C6F5}" type="presParOf" srcId="{5186DCFE-0600-461F-8AA6-26367F907BEA}" destId="{4C732422-9F49-4DC2-9720-068152ADFA0A}" srcOrd="2" destOrd="0" presId="urn:microsoft.com/office/officeart/2018/2/layout/IconVerticalSolidList"/>
    <dgm:cxn modelId="{6A5D28A4-361E-4BD9-8B2F-9FFAD5C8D03A}" type="presParOf" srcId="{5186DCFE-0600-461F-8AA6-26367F907BEA}" destId="{5B575AB1-A8D1-4A69-81E0-AF186BE5E1D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2C2E456-71A9-4A45-BECE-484D90BA5E94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B9CDC4F-B1CE-41EA-B665-39C9334866E4}">
      <dgm:prSet/>
      <dgm:spPr/>
      <dgm:t>
        <a:bodyPr/>
        <a:lstStyle/>
        <a:p>
          <a:r>
            <a:rPr lang="en-US"/>
            <a:t>Live 1v1 match on the vertical slice (two fighters, one stage) with readable HUD and status icons.</a:t>
          </a:r>
        </a:p>
      </dgm:t>
    </dgm:pt>
    <dgm:pt modelId="{8F13AF75-96AD-4A2E-8FFD-6FA750D12EFE}" type="parTrans" cxnId="{F82A5F0B-D82D-44C1-A2AC-D8227A3E2509}">
      <dgm:prSet/>
      <dgm:spPr/>
      <dgm:t>
        <a:bodyPr/>
        <a:lstStyle/>
        <a:p>
          <a:endParaRPr lang="en-US"/>
        </a:p>
      </dgm:t>
    </dgm:pt>
    <dgm:pt modelId="{E9B2270F-0B50-4379-83A2-5049137DE4A9}" type="sibTrans" cxnId="{F82A5F0B-D82D-44C1-A2AC-D8227A3E2509}">
      <dgm:prSet/>
      <dgm:spPr/>
      <dgm:t>
        <a:bodyPr/>
        <a:lstStyle/>
        <a:p>
          <a:endParaRPr lang="en-US"/>
        </a:p>
      </dgm:t>
    </dgm:pt>
    <dgm:pt modelId="{C459ACE8-465E-46DA-A94C-124565F1C03F}">
      <dgm:prSet/>
      <dgm:spPr/>
      <dgm:t>
        <a:bodyPr/>
        <a:lstStyle/>
        <a:p>
          <a:r>
            <a:rPr lang="en-US"/>
            <a:t>Join‑by‑code lobby flow, quick rematch, and a visible netgraph (RTT/jitter/loss) for transparency.</a:t>
          </a:r>
        </a:p>
      </dgm:t>
    </dgm:pt>
    <dgm:pt modelId="{4E228890-ED32-4376-A6F9-4EF8DD0D8F75}" type="parTrans" cxnId="{A64C5E09-3404-4A7D-BAF6-624D89D5DF94}">
      <dgm:prSet/>
      <dgm:spPr/>
      <dgm:t>
        <a:bodyPr/>
        <a:lstStyle/>
        <a:p>
          <a:endParaRPr lang="en-US"/>
        </a:p>
      </dgm:t>
    </dgm:pt>
    <dgm:pt modelId="{9A219B55-21A4-406D-A93E-FFE70DF7CBBA}" type="sibTrans" cxnId="{A64C5E09-3404-4A7D-BAF6-624D89D5DF94}">
      <dgm:prSet/>
      <dgm:spPr/>
      <dgm:t>
        <a:bodyPr/>
        <a:lstStyle/>
        <a:p>
          <a:endParaRPr lang="en-US"/>
        </a:p>
      </dgm:t>
    </dgm:pt>
    <dgm:pt modelId="{D4EAF9FA-178D-4AFD-93BF-E35B569916F0}">
      <dgm:prSet/>
      <dgm:spPr/>
      <dgm:t>
        <a:bodyPr/>
        <a:lstStyle/>
        <a:p>
          <a:r>
            <a:rPr lang="en-US"/>
            <a:t>Showcase of adaptive conditions and status effects with clear on‑screen disclosure.</a:t>
          </a:r>
        </a:p>
      </dgm:t>
    </dgm:pt>
    <dgm:pt modelId="{0DDD68E0-4AE9-4E21-9C6F-A309327CFB24}" type="parTrans" cxnId="{02531833-ED4A-4A49-8B22-F2B31EDAD3E2}">
      <dgm:prSet/>
      <dgm:spPr/>
      <dgm:t>
        <a:bodyPr/>
        <a:lstStyle/>
        <a:p>
          <a:endParaRPr lang="en-US"/>
        </a:p>
      </dgm:t>
    </dgm:pt>
    <dgm:pt modelId="{B8639954-B123-461D-9BBF-123BBAD83072}" type="sibTrans" cxnId="{02531833-ED4A-4A49-8B22-F2B31EDAD3E2}">
      <dgm:prSet/>
      <dgm:spPr/>
      <dgm:t>
        <a:bodyPr/>
        <a:lstStyle/>
        <a:p>
          <a:endParaRPr lang="en-US"/>
        </a:p>
      </dgm:t>
    </dgm:pt>
    <dgm:pt modelId="{253D933D-5C55-4CA8-8330-BFBA6904E287}">
      <dgm:prSet/>
      <dgm:spPr/>
      <dgm:t>
        <a:bodyPr/>
        <a:lstStyle/>
        <a:p>
          <a:r>
            <a:rPr lang="en-US"/>
            <a:t>Short gameplay clip + repo link and documentation for faculty review.</a:t>
          </a:r>
        </a:p>
      </dgm:t>
    </dgm:pt>
    <dgm:pt modelId="{3EFA0605-486B-4226-A27E-F65A334210E7}" type="parTrans" cxnId="{E84A5BEA-F3FF-4351-9701-87E7DCB86E91}">
      <dgm:prSet/>
      <dgm:spPr/>
      <dgm:t>
        <a:bodyPr/>
        <a:lstStyle/>
        <a:p>
          <a:endParaRPr lang="en-US"/>
        </a:p>
      </dgm:t>
    </dgm:pt>
    <dgm:pt modelId="{7F54727E-B4FF-4787-B29F-C90DE330AF0F}" type="sibTrans" cxnId="{E84A5BEA-F3FF-4351-9701-87E7DCB86E91}">
      <dgm:prSet/>
      <dgm:spPr/>
      <dgm:t>
        <a:bodyPr/>
        <a:lstStyle/>
        <a:p>
          <a:endParaRPr lang="en-US"/>
        </a:p>
      </dgm:t>
    </dgm:pt>
    <dgm:pt modelId="{4FA8B3E3-EF8E-4B6F-9DF5-43214476245D}" type="pres">
      <dgm:prSet presAssocID="{E2C2E456-71A9-4A45-BECE-484D90BA5E94}" presName="linear" presStyleCnt="0">
        <dgm:presLayoutVars>
          <dgm:animLvl val="lvl"/>
          <dgm:resizeHandles val="exact"/>
        </dgm:presLayoutVars>
      </dgm:prSet>
      <dgm:spPr/>
    </dgm:pt>
    <dgm:pt modelId="{ABBBC494-6248-4A48-9C84-D9713CC2FBCA}" type="pres">
      <dgm:prSet presAssocID="{6B9CDC4F-B1CE-41EA-B665-39C9334866E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27DB9F3-F4CD-459C-A0E5-DEB0EB72C37C}" type="pres">
      <dgm:prSet presAssocID="{E9B2270F-0B50-4379-83A2-5049137DE4A9}" presName="spacer" presStyleCnt="0"/>
      <dgm:spPr/>
    </dgm:pt>
    <dgm:pt modelId="{D1410BD8-04C5-4D75-A333-520257FB72B4}" type="pres">
      <dgm:prSet presAssocID="{C459ACE8-465E-46DA-A94C-124565F1C03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30A321F-3AA2-4852-A634-03998D379A30}" type="pres">
      <dgm:prSet presAssocID="{9A219B55-21A4-406D-A93E-FFE70DF7CBBA}" presName="spacer" presStyleCnt="0"/>
      <dgm:spPr/>
    </dgm:pt>
    <dgm:pt modelId="{F8D108A2-BBDA-4A56-8766-EE7BC623F303}" type="pres">
      <dgm:prSet presAssocID="{D4EAF9FA-178D-4AFD-93BF-E35B569916F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B769FD8-5927-42E3-BF9B-55B7E29B1C17}" type="pres">
      <dgm:prSet presAssocID="{B8639954-B123-461D-9BBF-123BBAD83072}" presName="spacer" presStyleCnt="0"/>
      <dgm:spPr/>
    </dgm:pt>
    <dgm:pt modelId="{165069A5-49F9-4364-8CAE-1A9994929448}" type="pres">
      <dgm:prSet presAssocID="{253D933D-5C55-4CA8-8330-BFBA6904E28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64C5E09-3404-4A7D-BAF6-624D89D5DF94}" srcId="{E2C2E456-71A9-4A45-BECE-484D90BA5E94}" destId="{C459ACE8-465E-46DA-A94C-124565F1C03F}" srcOrd="1" destOrd="0" parTransId="{4E228890-ED32-4376-A6F9-4EF8DD0D8F75}" sibTransId="{9A219B55-21A4-406D-A93E-FFE70DF7CBBA}"/>
    <dgm:cxn modelId="{F82A5F0B-D82D-44C1-A2AC-D8227A3E2509}" srcId="{E2C2E456-71A9-4A45-BECE-484D90BA5E94}" destId="{6B9CDC4F-B1CE-41EA-B665-39C9334866E4}" srcOrd="0" destOrd="0" parTransId="{8F13AF75-96AD-4A2E-8FFD-6FA750D12EFE}" sibTransId="{E9B2270F-0B50-4379-83A2-5049137DE4A9}"/>
    <dgm:cxn modelId="{41F7EC10-A61C-4B1A-9183-947E7C8DFD81}" type="presOf" srcId="{C459ACE8-465E-46DA-A94C-124565F1C03F}" destId="{D1410BD8-04C5-4D75-A333-520257FB72B4}" srcOrd="0" destOrd="0" presId="urn:microsoft.com/office/officeart/2005/8/layout/vList2"/>
    <dgm:cxn modelId="{02531833-ED4A-4A49-8B22-F2B31EDAD3E2}" srcId="{E2C2E456-71A9-4A45-BECE-484D90BA5E94}" destId="{D4EAF9FA-178D-4AFD-93BF-E35B569916F0}" srcOrd="2" destOrd="0" parTransId="{0DDD68E0-4AE9-4E21-9C6F-A309327CFB24}" sibTransId="{B8639954-B123-461D-9BBF-123BBAD83072}"/>
    <dgm:cxn modelId="{A160D23A-DC53-4EF1-9B13-C247F4AF6A79}" type="presOf" srcId="{253D933D-5C55-4CA8-8330-BFBA6904E287}" destId="{165069A5-49F9-4364-8CAE-1A9994929448}" srcOrd="0" destOrd="0" presId="urn:microsoft.com/office/officeart/2005/8/layout/vList2"/>
    <dgm:cxn modelId="{2E41AC74-EEDB-4A7C-9262-64AA851A7CFD}" type="presOf" srcId="{E2C2E456-71A9-4A45-BECE-484D90BA5E94}" destId="{4FA8B3E3-EF8E-4B6F-9DF5-43214476245D}" srcOrd="0" destOrd="0" presId="urn:microsoft.com/office/officeart/2005/8/layout/vList2"/>
    <dgm:cxn modelId="{7254E5CC-9D9A-4962-A8A8-30CA871B6A13}" type="presOf" srcId="{6B9CDC4F-B1CE-41EA-B665-39C9334866E4}" destId="{ABBBC494-6248-4A48-9C84-D9713CC2FBCA}" srcOrd="0" destOrd="0" presId="urn:microsoft.com/office/officeart/2005/8/layout/vList2"/>
    <dgm:cxn modelId="{916F40CE-F384-4E2B-8079-03A097B244AB}" type="presOf" srcId="{D4EAF9FA-178D-4AFD-93BF-E35B569916F0}" destId="{F8D108A2-BBDA-4A56-8766-EE7BC623F303}" srcOrd="0" destOrd="0" presId="urn:microsoft.com/office/officeart/2005/8/layout/vList2"/>
    <dgm:cxn modelId="{E84A5BEA-F3FF-4351-9701-87E7DCB86E91}" srcId="{E2C2E456-71A9-4A45-BECE-484D90BA5E94}" destId="{253D933D-5C55-4CA8-8330-BFBA6904E287}" srcOrd="3" destOrd="0" parTransId="{3EFA0605-486B-4226-A27E-F65A334210E7}" sibTransId="{7F54727E-B4FF-4787-B29F-C90DE330AF0F}"/>
    <dgm:cxn modelId="{1FDF9039-AB60-4165-8D1A-DE5CE9D50429}" type="presParOf" srcId="{4FA8B3E3-EF8E-4B6F-9DF5-43214476245D}" destId="{ABBBC494-6248-4A48-9C84-D9713CC2FBCA}" srcOrd="0" destOrd="0" presId="urn:microsoft.com/office/officeart/2005/8/layout/vList2"/>
    <dgm:cxn modelId="{E7EEC384-033C-4EBC-9945-B1B62C6F4B84}" type="presParOf" srcId="{4FA8B3E3-EF8E-4B6F-9DF5-43214476245D}" destId="{B27DB9F3-F4CD-459C-A0E5-DEB0EB72C37C}" srcOrd="1" destOrd="0" presId="urn:microsoft.com/office/officeart/2005/8/layout/vList2"/>
    <dgm:cxn modelId="{1EC0290E-C817-4A39-88E4-B95D5647441D}" type="presParOf" srcId="{4FA8B3E3-EF8E-4B6F-9DF5-43214476245D}" destId="{D1410BD8-04C5-4D75-A333-520257FB72B4}" srcOrd="2" destOrd="0" presId="urn:microsoft.com/office/officeart/2005/8/layout/vList2"/>
    <dgm:cxn modelId="{10FC7903-0C4E-4642-A915-674233F5C820}" type="presParOf" srcId="{4FA8B3E3-EF8E-4B6F-9DF5-43214476245D}" destId="{D30A321F-3AA2-4852-A634-03998D379A30}" srcOrd="3" destOrd="0" presId="urn:microsoft.com/office/officeart/2005/8/layout/vList2"/>
    <dgm:cxn modelId="{1DA0CA2C-33E4-439E-B203-E440B7C68DCB}" type="presParOf" srcId="{4FA8B3E3-EF8E-4B6F-9DF5-43214476245D}" destId="{F8D108A2-BBDA-4A56-8766-EE7BC623F303}" srcOrd="4" destOrd="0" presId="urn:microsoft.com/office/officeart/2005/8/layout/vList2"/>
    <dgm:cxn modelId="{C3177944-45A4-4167-A735-EE5451CFBABF}" type="presParOf" srcId="{4FA8B3E3-EF8E-4B6F-9DF5-43214476245D}" destId="{2B769FD8-5927-42E3-BF9B-55B7E29B1C17}" srcOrd="5" destOrd="0" presId="urn:microsoft.com/office/officeart/2005/8/layout/vList2"/>
    <dgm:cxn modelId="{EC062061-4B0C-4A21-9568-C00D7A44E0BB}" type="presParOf" srcId="{4FA8B3E3-EF8E-4B6F-9DF5-43214476245D}" destId="{165069A5-49F9-4364-8CAE-1A999492944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D3C4A5-2D5F-4F2E-859B-32D500DCB7E3}">
      <dsp:nvSpPr>
        <dsp:cNvPr id="0" name=""/>
        <dsp:cNvSpPr/>
      </dsp:nvSpPr>
      <dsp:spPr>
        <a:xfrm>
          <a:off x="0" y="710670"/>
          <a:ext cx="5175384" cy="9898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FFFFFF"/>
              </a:solidFill>
              <a:ea typeface="+mn-ea"/>
              <a:cs typeface="+mn-cs"/>
            </a:rPr>
            <a:t>Completed: </a:t>
          </a:r>
          <a:r>
            <a:rPr lang="en-US" sz="1800" kern="1200" dirty="0">
              <a:solidFill>
                <a:srgbClr val="FFFFFF"/>
              </a:solidFill>
              <a:latin typeface="Calibri"/>
              <a:ea typeface="+mn-ea"/>
              <a:cs typeface="+mn-cs"/>
            </a:rPr>
            <a:t>Professional Biography, Team Contract (signed), Design Diagrams, Tasklist, Milestone, Timeline, and Effort Matrix, Project Constraints.</a:t>
          </a:r>
          <a:endParaRPr lang="en-US" sz="1800" kern="1200" dirty="0">
            <a:solidFill>
              <a:srgbClr val="FFFFFF"/>
            </a:solidFill>
            <a:ea typeface="+mn-ea"/>
            <a:cs typeface="+mn-cs"/>
          </a:endParaRPr>
        </a:p>
      </dsp:txBody>
      <dsp:txXfrm>
        <a:off x="48319" y="758989"/>
        <a:ext cx="5078746" cy="893182"/>
      </dsp:txXfrm>
    </dsp:sp>
    <dsp:sp modelId="{45A4D319-8072-4E5E-ABB0-D2CE8DAD1C82}">
      <dsp:nvSpPr>
        <dsp:cNvPr id="0" name=""/>
        <dsp:cNvSpPr/>
      </dsp:nvSpPr>
      <dsp:spPr>
        <a:xfrm>
          <a:off x="0" y="1752330"/>
          <a:ext cx="5175384" cy="98982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FFFFFF"/>
              </a:solidFill>
              <a:ea typeface="+mn-ea"/>
              <a:cs typeface="+mn-cs"/>
            </a:rPr>
            <a:t>Engine: Unity LTS </a:t>
          </a:r>
          <a:r>
            <a:rPr lang="en-US" sz="1800" kern="1200" dirty="0">
              <a:solidFill>
                <a:srgbClr val="FFFFFF"/>
              </a:solidFill>
              <a:latin typeface="Calibri"/>
              <a:ea typeface="+mn-ea"/>
              <a:cs typeface="+mn-cs"/>
            </a:rPr>
            <a:t>v3.15.1 (Editor 6000.2.6f2), Mirror Framework, C#.</a:t>
          </a:r>
          <a:endParaRPr lang="en-US" sz="1800" kern="1200" dirty="0">
            <a:solidFill>
              <a:srgbClr val="FFFFFF"/>
            </a:solidFill>
            <a:ea typeface="+mn-ea"/>
            <a:cs typeface="+mn-cs"/>
          </a:endParaRPr>
        </a:p>
      </dsp:txBody>
      <dsp:txXfrm>
        <a:off x="48319" y="1800649"/>
        <a:ext cx="5078746" cy="893182"/>
      </dsp:txXfrm>
    </dsp:sp>
    <dsp:sp modelId="{227DA97E-F5A5-42AA-AA85-72ADDB68A6A1}">
      <dsp:nvSpPr>
        <dsp:cNvPr id="0" name=""/>
        <dsp:cNvSpPr/>
      </dsp:nvSpPr>
      <dsp:spPr>
        <a:xfrm>
          <a:off x="0" y="2793990"/>
          <a:ext cx="5175384" cy="98982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FFFFFF"/>
              </a:solidFill>
              <a:ea typeface="+mn-ea"/>
              <a:cs typeface="+mn-cs"/>
            </a:rPr>
            <a:t>Repo &amp; docs created; architecture and semester plan defined</a:t>
          </a:r>
          <a:r>
            <a:rPr lang="en-US" sz="1800" kern="1200" dirty="0">
              <a:solidFill>
                <a:srgbClr val="FFFFFF"/>
              </a:solidFill>
              <a:latin typeface="Calibri"/>
              <a:ea typeface="+mn-ea"/>
              <a:cs typeface="+mn-cs"/>
            </a:rPr>
            <a:t> and currently in progress</a:t>
          </a:r>
          <a:r>
            <a:rPr lang="en-US" sz="1800" kern="1200" dirty="0">
              <a:solidFill>
                <a:srgbClr val="FFFFFF"/>
              </a:solidFill>
              <a:ea typeface="+mn-ea"/>
              <a:cs typeface="+mn-cs"/>
            </a:rPr>
            <a:t>.</a:t>
          </a:r>
        </a:p>
      </dsp:txBody>
      <dsp:txXfrm>
        <a:off x="48319" y="2842309"/>
        <a:ext cx="5078746" cy="893182"/>
      </dsp:txXfrm>
    </dsp:sp>
    <dsp:sp modelId="{A66D819D-4B0B-44BE-9CC3-DC7A0E7DD302}">
      <dsp:nvSpPr>
        <dsp:cNvPr id="0" name=""/>
        <dsp:cNvSpPr/>
      </dsp:nvSpPr>
      <dsp:spPr>
        <a:xfrm>
          <a:off x="0" y="3835650"/>
          <a:ext cx="5175384" cy="98982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FFFFFF"/>
              </a:solidFill>
              <a:ea typeface="+mn-ea"/>
              <a:cs typeface="+mn-cs"/>
            </a:rPr>
            <a:t>In progress: Core combat prototype (offline) and status/condition system v1; UI/HUD scaffolding; lobby flow draft.</a:t>
          </a:r>
        </a:p>
      </dsp:txBody>
      <dsp:txXfrm>
        <a:off x="48319" y="3883969"/>
        <a:ext cx="5078746" cy="8931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27E18F-C931-4B18-89C5-030FD45D80AD}">
      <dsp:nvSpPr>
        <dsp:cNvPr id="0" name=""/>
        <dsp:cNvSpPr/>
      </dsp:nvSpPr>
      <dsp:spPr>
        <a:xfrm>
          <a:off x="0" y="1805"/>
          <a:ext cx="7886700" cy="91531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3A8043-D551-46E5-9D88-64C487905E11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79A741-3E7B-4B77-B5FA-05E2C2957BC0}">
      <dsp:nvSpPr>
        <dsp:cNvPr id="0" name=""/>
        <dsp:cNvSpPr/>
      </dsp:nvSpPr>
      <dsp:spPr>
        <a:xfrm>
          <a:off x="1057183" y="1805"/>
          <a:ext cx="68295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Core offline combat: movement, light/heavy, block/parry, dodge; status effects v1; adaptive conditions v1.</a:t>
          </a:r>
        </a:p>
      </dsp:txBody>
      <dsp:txXfrm>
        <a:off x="1057183" y="1805"/>
        <a:ext cx="6829516" cy="915310"/>
      </dsp:txXfrm>
    </dsp:sp>
    <dsp:sp modelId="{6BD03682-D6DC-4B28-B3A7-326717D3CBBE}">
      <dsp:nvSpPr>
        <dsp:cNvPr id="0" name=""/>
        <dsp:cNvSpPr/>
      </dsp:nvSpPr>
      <dsp:spPr>
        <a:xfrm>
          <a:off x="0" y="1145944"/>
          <a:ext cx="7886700" cy="91531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C547C9-611D-4D71-A09B-2E931C01202C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ACD3D1-74BE-4ABC-9A01-957630FA4EBA}">
      <dsp:nvSpPr>
        <dsp:cNvPr id="0" name=""/>
        <dsp:cNvSpPr/>
      </dsp:nvSpPr>
      <dsp:spPr>
        <a:xfrm>
          <a:off x="1057183" y="1145944"/>
          <a:ext cx="68295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Online baseline: host‑authoritative 1v1, client prediction + reconciliation, room‑code lobbies via Relay/Lobby.</a:t>
          </a:r>
        </a:p>
      </dsp:txBody>
      <dsp:txXfrm>
        <a:off x="1057183" y="1145944"/>
        <a:ext cx="6829516" cy="915310"/>
      </dsp:txXfrm>
    </dsp:sp>
    <dsp:sp modelId="{DDB96220-A737-4359-90B4-59C6F259C3F5}">
      <dsp:nvSpPr>
        <dsp:cNvPr id="0" name=""/>
        <dsp:cNvSpPr/>
      </dsp:nvSpPr>
      <dsp:spPr>
        <a:xfrm>
          <a:off x="0" y="2290082"/>
          <a:ext cx="7886700" cy="91531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CDF9DE-46DD-4BE5-8945-EAB1A6CA84EC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3E573D-C03B-421B-98E5-0DD060A9AFF0}">
      <dsp:nvSpPr>
        <dsp:cNvPr id="0" name=""/>
        <dsp:cNvSpPr/>
      </dsp:nvSpPr>
      <dsp:spPr>
        <a:xfrm>
          <a:off x="1057183" y="2290082"/>
          <a:ext cx="68295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Usability: controller/keyboard input maps with rebinds; readable HUD with status icons/timers.</a:t>
          </a:r>
        </a:p>
      </dsp:txBody>
      <dsp:txXfrm>
        <a:off x="1057183" y="2290082"/>
        <a:ext cx="6829516" cy="915310"/>
      </dsp:txXfrm>
    </dsp:sp>
    <dsp:sp modelId="{94FB92F6-E8D4-4BC3-AB64-C7CB19015C08}">
      <dsp:nvSpPr>
        <dsp:cNvPr id="0" name=""/>
        <dsp:cNvSpPr/>
      </dsp:nvSpPr>
      <dsp:spPr>
        <a:xfrm>
          <a:off x="0" y="3434221"/>
          <a:ext cx="7886700" cy="91531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7248D5-2249-4624-BA35-EF6E4A57851B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575AB1-A8D1-4A69-81E0-AF186BE5E1D2}">
      <dsp:nvSpPr>
        <dsp:cNvPr id="0" name=""/>
        <dsp:cNvSpPr/>
      </dsp:nvSpPr>
      <dsp:spPr>
        <a:xfrm>
          <a:off x="1057183" y="3434221"/>
          <a:ext cx="68295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S1 Vertical Slice build (target mid‑December): two fighters, one stage, stable online play.</a:t>
          </a:r>
        </a:p>
      </dsp:txBody>
      <dsp:txXfrm>
        <a:off x="1057183" y="3434221"/>
        <a:ext cx="6829516" cy="9153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BBC494-6248-4A48-9C84-D9713CC2FBCA}">
      <dsp:nvSpPr>
        <dsp:cNvPr id="0" name=""/>
        <dsp:cNvSpPr/>
      </dsp:nvSpPr>
      <dsp:spPr>
        <a:xfrm>
          <a:off x="0" y="78669"/>
          <a:ext cx="7886700" cy="9945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Live 1v1 match on the vertical slice (two fighters, one stage) with readable HUD and status icons.</a:t>
          </a:r>
        </a:p>
      </dsp:txBody>
      <dsp:txXfrm>
        <a:off x="48547" y="127216"/>
        <a:ext cx="7789606" cy="897406"/>
      </dsp:txXfrm>
    </dsp:sp>
    <dsp:sp modelId="{D1410BD8-04C5-4D75-A333-520257FB72B4}">
      <dsp:nvSpPr>
        <dsp:cNvPr id="0" name=""/>
        <dsp:cNvSpPr/>
      </dsp:nvSpPr>
      <dsp:spPr>
        <a:xfrm>
          <a:off x="0" y="1145169"/>
          <a:ext cx="7886700" cy="9945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Join‑by‑code lobby flow, quick rematch, and a visible netgraph (RTT/jitter/loss) for transparency.</a:t>
          </a:r>
        </a:p>
      </dsp:txBody>
      <dsp:txXfrm>
        <a:off x="48547" y="1193716"/>
        <a:ext cx="7789606" cy="897406"/>
      </dsp:txXfrm>
    </dsp:sp>
    <dsp:sp modelId="{F8D108A2-BBDA-4A56-8766-EE7BC623F303}">
      <dsp:nvSpPr>
        <dsp:cNvPr id="0" name=""/>
        <dsp:cNvSpPr/>
      </dsp:nvSpPr>
      <dsp:spPr>
        <a:xfrm>
          <a:off x="0" y="2211669"/>
          <a:ext cx="7886700" cy="9945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Showcase of adaptive conditions and status effects with clear on‑screen disclosure.</a:t>
          </a:r>
        </a:p>
      </dsp:txBody>
      <dsp:txXfrm>
        <a:off x="48547" y="2260216"/>
        <a:ext cx="7789606" cy="897406"/>
      </dsp:txXfrm>
    </dsp:sp>
    <dsp:sp modelId="{165069A5-49F9-4364-8CAE-1A9994929448}">
      <dsp:nvSpPr>
        <dsp:cNvPr id="0" name=""/>
        <dsp:cNvSpPr/>
      </dsp:nvSpPr>
      <dsp:spPr>
        <a:xfrm>
          <a:off x="0" y="3278169"/>
          <a:ext cx="7886700" cy="9945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Short gameplay clip + repo link and documentation for faculty review.</a:t>
          </a:r>
        </a:p>
      </dsp:txBody>
      <dsp:txXfrm>
        <a:off x="48547" y="3326716"/>
        <a:ext cx="7789606" cy="8974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github.com/Kartavya904/Adaptabrawl-Senior-Design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microsoft.com/office/2018/10/relationships/comments" Target="../comments/modernComment_10A_2B6339F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9" name="Freeform: Shape 2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1" name="Freeform: Shape 3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2" y="1999615"/>
            <a:ext cx="6858000" cy="2764028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000" dirty="0"/>
              <a:t>Adaptabrawl — Fall Design Presentation (Assignment #8)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2876" y="5645150"/>
            <a:ext cx="6495001" cy="6318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defRPr sz="1800"/>
            </a:pPr>
            <a:r>
              <a:rPr lang="en-US" sz="1900" dirty="0"/>
              <a:t>Project Purposes &amp; Goals | CS5001 — Senior Design (Fall 2025)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365125"/>
            <a:ext cx="8375585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5059" y="586822"/>
            <a:ext cx="2670189" cy="1645920"/>
          </a:xfrm>
        </p:spPr>
        <p:txBody>
          <a:bodyPr>
            <a:normAutofit/>
          </a:bodyPr>
          <a:lstStyle/>
          <a:p>
            <a:r>
              <a:rPr lang="en-US" sz="2800"/>
              <a:t>Team &amp; Contacts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105773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140292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13373" y="586822"/>
            <a:ext cx="4501977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16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600" dirty="0"/>
              <a:t>Faculty/Industry Advisor: Vikas Rishishwar</a:t>
            </a:r>
            <a:endParaRPr lang="en-US" sz="16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600" dirty="0"/>
              <a:t>Repository: </a:t>
            </a:r>
            <a:r>
              <a:rPr lang="en-US" sz="16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Adaptabrawl-Senior-Design</a:t>
            </a:r>
            <a:endParaRPr lang="en-US" sz="1600" dirty="0">
              <a:ea typeface="Calibri"/>
              <a:cs typeface="Calibri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65EFE67-2F89-56CD-F176-E0D9DD3166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356111"/>
              </p:ext>
            </p:extLst>
          </p:nvPr>
        </p:nvGraphicFramePr>
        <p:xfrm>
          <a:off x="418338" y="3085635"/>
          <a:ext cx="8373620" cy="2780710"/>
        </p:xfrm>
        <a:graphic>
          <a:graphicData uri="http://schemas.openxmlformats.org/drawingml/2006/table">
            <a:tbl>
              <a:tblPr firstRow="1" bandRow="1">
                <a:solidFill>
                  <a:schemeClr val="accent1">
                    <a:lumMod val="20000"/>
                    <a:lumOff val="80000"/>
                  </a:schemeClr>
                </a:solidFill>
                <a:tableStyleId>{5C22544A-7EE6-4342-B048-85BDC9FD1C3A}</a:tableStyleId>
              </a:tblPr>
              <a:tblGrid>
                <a:gridCol w="2185325">
                  <a:extLst>
                    <a:ext uri="{9D8B030D-6E8A-4147-A177-3AD203B41FA5}">
                      <a16:colId xmlns:a16="http://schemas.microsoft.com/office/drawing/2014/main" val="2769360241"/>
                    </a:ext>
                  </a:extLst>
                </a:gridCol>
                <a:gridCol w="3225422">
                  <a:extLst>
                    <a:ext uri="{9D8B030D-6E8A-4147-A177-3AD203B41FA5}">
                      <a16:colId xmlns:a16="http://schemas.microsoft.com/office/drawing/2014/main" val="3809063846"/>
                    </a:ext>
                  </a:extLst>
                </a:gridCol>
                <a:gridCol w="2962873">
                  <a:extLst>
                    <a:ext uri="{9D8B030D-6E8A-4147-A177-3AD203B41FA5}">
                      <a16:colId xmlns:a16="http://schemas.microsoft.com/office/drawing/2014/main" val="2859111277"/>
                    </a:ext>
                  </a:extLst>
                </a:gridCol>
              </a:tblGrid>
              <a:tr h="628178">
                <a:tc>
                  <a:txBody>
                    <a:bodyPr/>
                    <a:lstStyle/>
                    <a:p>
                      <a:r>
                        <a:rPr lang="en-US" sz="1500" cap="all" spc="60" dirty="0">
                          <a:solidFill>
                            <a:srgbClr val="000000"/>
                          </a:solidFill>
                        </a:rPr>
                        <a:t>Name</a:t>
                      </a:r>
                    </a:p>
                  </a:txBody>
                  <a:tcPr marL="174494" marR="174494" marT="174494" marB="174494">
                    <a:lnL w="12700" cmpd="sng">
                      <a:solidFill>
                        <a:schemeClr val="tx1"/>
                      </a:solidFill>
                    </a:lnL>
                    <a:lnR w="12700" cmpd="sng">
                      <a:solidFill>
                        <a:schemeClr val="tx1"/>
                      </a:solidFill>
                    </a:lnR>
                    <a:lnT w="12700" cmpd="sng">
                      <a:solidFill>
                        <a:schemeClr val="tx1"/>
                      </a:solidFill>
                    </a:lnT>
                    <a:lnB w="12700" cmpd="sng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cap="all" spc="60" dirty="0">
                          <a:solidFill>
                            <a:srgbClr val="000000"/>
                          </a:solidFill>
                        </a:rPr>
                        <a:t>Role</a:t>
                      </a:r>
                    </a:p>
                  </a:txBody>
                  <a:tcPr marL="174494" marR="174494" marT="174494" marB="174494">
                    <a:lnL w="12700" cmpd="sng">
                      <a:solidFill>
                        <a:schemeClr val="tx1"/>
                      </a:solidFill>
                    </a:lnL>
                    <a:lnR w="12700" cmpd="sng">
                      <a:solidFill>
                        <a:schemeClr val="tx1"/>
                      </a:solidFill>
                    </a:lnR>
                    <a:lnT w="12700" cmpd="sng">
                      <a:solidFill>
                        <a:schemeClr val="tx1"/>
                      </a:solidFill>
                    </a:lnT>
                    <a:lnB w="12700" cmpd="sng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cap="all" spc="60" dirty="0">
                          <a:solidFill>
                            <a:srgbClr val="000000"/>
                          </a:solidFill>
                        </a:rPr>
                        <a:t>Email</a:t>
                      </a:r>
                    </a:p>
                  </a:txBody>
                  <a:tcPr marL="174494" marR="174494" marT="174494" marB="174494">
                    <a:lnL w="12700" cmpd="sng">
                      <a:solidFill>
                        <a:schemeClr val="tx1"/>
                      </a:solidFill>
                    </a:lnL>
                    <a:lnR w="12700" cmpd="sng">
                      <a:solidFill>
                        <a:schemeClr val="tx1"/>
                      </a:solidFill>
                    </a:lnR>
                    <a:lnT w="12700" cmpd="sng">
                      <a:solidFill>
                        <a:schemeClr val="tx1"/>
                      </a:solidFill>
                    </a:lnT>
                    <a:lnB w="12700" cmpd="sng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7446968"/>
                  </a:ext>
                </a:extLst>
              </a:tr>
              <a:tr h="538133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2000" kern="1200" cap="none" spc="0" dirty="0">
                          <a:solidFill>
                            <a:srgbClr val="000000"/>
                          </a:solidFill>
                        </a:rPr>
                        <a:t>Kartavya Singh</a:t>
                      </a:r>
                    </a:p>
                  </a:txBody>
                  <a:tcPr marL="130119" marR="130119" marT="65060" marB="116329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457200" rtl="0" eaLnBrk="1" latinLnBrk="0" hangingPunct="1">
                        <a:buNone/>
                      </a:pPr>
                      <a:r>
                        <a:rPr lang="en-US" sz="2000" kern="1200" cap="none" spc="0" noProof="0" dirty="0">
                          <a:solidFill>
                            <a:srgbClr val="000000"/>
                          </a:solidFill>
                        </a:rPr>
                        <a:t>Netcode &amp; Infrastructure</a:t>
                      </a:r>
                      <a:endParaRPr lang="en-US" sz="2000" kern="1200" cap="none" spc="0" dirty="0">
                        <a:solidFill>
                          <a:srgbClr val="000000"/>
                        </a:solidFill>
                      </a:endParaRPr>
                    </a:p>
                  </a:txBody>
                  <a:tcPr marL="130119" marR="130119" marT="65060" marB="116329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457200" rtl="0" eaLnBrk="1" latinLnBrk="0" hangingPunct="1">
                        <a:buNone/>
                      </a:pPr>
                      <a:r>
                        <a:rPr lang="en-US" sz="2000" kern="1200" cap="none" spc="0" noProof="0" dirty="0">
                          <a:solidFill>
                            <a:srgbClr val="000000"/>
                          </a:solidFill>
                        </a:rPr>
                        <a:t>singhk6@mail.uc.edu</a:t>
                      </a:r>
                      <a:endParaRPr lang="en-US" sz="2000" kern="1200" cap="none" spc="0" dirty="0">
                        <a:solidFill>
                          <a:srgbClr val="000000"/>
                        </a:solidFill>
                      </a:endParaRPr>
                    </a:p>
                  </a:txBody>
                  <a:tcPr marL="130119" marR="130119" marT="65060" marB="116329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601861"/>
                  </a:ext>
                </a:extLst>
              </a:tr>
              <a:tr h="538133">
                <a:tc>
                  <a:txBody>
                    <a:bodyPr/>
                    <a:lstStyle/>
                    <a:p>
                      <a:pPr marL="0" lvl="0" algn="l" defTabSz="457200" rtl="0" eaLnBrk="1" latinLnBrk="0" hangingPunct="1">
                        <a:buNone/>
                      </a:pPr>
                      <a:r>
                        <a:rPr lang="en-US" sz="2000" kern="1200" cap="none" spc="0" noProof="0" dirty="0">
                          <a:solidFill>
                            <a:srgbClr val="000000"/>
                          </a:solidFill>
                        </a:rPr>
                        <a:t>Saarthak Sinha</a:t>
                      </a:r>
                      <a:endParaRPr lang="en-US" sz="2000" kern="1200" cap="none" spc="0" dirty="0">
                        <a:solidFill>
                          <a:srgbClr val="000000"/>
                        </a:solidFill>
                      </a:endParaRPr>
                    </a:p>
                  </a:txBody>
                  <a:tcPr marL="130119" marR="130119" marT="65060" marB="116329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457200" rtl="0" eaLnBrk="1" latinLnBrk="0" hangingPunct="1">
                        <a:buNone/>
                      </a:pPr>
                      <a:r>
                        <a:rPr lang="en-US" sz="2000" kern="1200" cap="none" spc="0" noProof="0" dirty="0">
                          <a:solidFill>
                            <a:srgbClr val="000000"/>
                          </a:solidFill>
                        </a:rPr>
                        <a:t>Combat/Systems</a:t>
                      </a:r>
                      <a:endParaRPr lang="en-US" sz="2000" kern="1200" cap="none" spc="0" dirty="0">
                        <a:solidFill>
                          <a:srgbClr val="000000"/>
                        </a:solidFill>
                      </a:endParaRPr>
                    </a:p>
                  </a:txBody>
                  <a:tcPr marL="130119" marR="130119" marT="65060" marB="116329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457200" rtl="0" eaLnBrk="1" latinLnBrk="0" hangingPunct="1">
                        <a:buNone/>
                      </a:pPr>
                      <a:r>
                        <a:rPr lang="en-US" sz="2000" kern="1200" cap="none" spc="0" noProof="0" dirty="0">
                          <a:solidFill>
                            <a:srgbClr val="000000"/>
                          </a:solidFill>
                        </a:rPr>
                        <a:t>sinhas6@mail.uc.edu</a:t>
                      </a:r>
                      <a:endParaRPr lang="en-US" sz="2000" kern="1200" cap="none" spc="0" dirty="0">
                        <a:solidFill>
                          <a:srgbClr val="000000"/>
                        </a:solidFill>
                      </a:endParaRPr>
                    </a:p>
                  </a:txBody>
                  <a:tcPr marL="130119" marR="130119" marT="65060" marB="116329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154060"/>
                  </a:ext>
                </a:extLst>
              </a:tr>
              <a:tr h="538133">
                <a:tc>
                  <a:txBody>
                    <a:bodyPr/>
                    <a:lstStyle/>
                    <a:p>
                      <a:pPr marL="0" lvl="0" algn="l" defTabSz="457200" rtl="0" eaLnBrk="1" latinLnBrk="0" hangingPunct="1">
                        <a:buNone/>
                      </a:pPr>
                      <a:r>
                        <a:rPr lang="en-US" sz="2000" kern="1200" cap="none" spc="0" noProof="0" dirty="0">
                          <a:solidFill>
                            <a:srgbClr val="000000"/>
                          </a:solidFill>
                        </a:rPr>
                        <a:t>Kanav Shetty</a:t>
                      </a:r>
                      <a:endParaRPr lang="en-US" sz="2000" kern="1200" cap="none" spc="0" dirty="0">
                        <a:solidFill>
                          <a:srgbClr val="000000"/>
                        </a:solidFill>
                      </a:endParaRPr>
                    </a:p>
                  </a:txBody>
                  <a:tcPr marL="130119" marR="130119" marT="65060" marB="116329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457200" rtl="0" eaLnBrk="1" latinLnBrk="0" hangingPunct="1">
                        <a:buNone/>
                      </a:pPr>
                      <a:r>
                        <a:rPr lang="en-US" sz="2000" kern="1200" cap="none" spc="0" noProof="0" dirty="0">
                          <a:solidFill>
                            <a:srgbClr val="000000"/>
                          </a:solidFill>
                        </a:rPr>
                        <a:t>UX/UI &amp; Content</a:t>
                      </a:r>
                      <a:endParaRPr lang="en-US" sz="2000" kern="1200" cap="none" spc="0" dirty="0">
                        <a:solidFill>
                          <a:srgbClr val="000000"/>
                        </a:solidFill>
                      </a:endParaRPr>
                    </a:p>
                  </a:txBody>
                  <a:tcPr marL="130119" marR="130119" marT="65060" marB="116329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457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kern="1200" cap="none" spc="0" noProof="0" dirty="0">
                          <a:solidFill>
                            <a:srgbClr val="000000"/>
                          </a:solidFill>
                        </a:rPr>
                        <a:t>shettykv@mail.uc.edu</a:t>
                      </a:r>
                    </a:p>
                  </a:txBody>
                  <a:tcPr marL="130119" marR="130119" marT="65060" marB="116329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2998044"/>
                  </a:ext>
                </a:extLst>
              </a:tr>
              <a:tr h="538133">
                <a:tc>
                  <a:txBody>
                    <a:bodyPr/>
                    <a:lstStyle/>
                    <a:p>
                      <a:pPr marL="0" lvl="0" algn="l" defTabSz="457200" rtl="0" eaLnBrk="1" latinLnBrk="0" hangingPunct="1">
                        <a:buNone/>
                      </a:pPr>
                      <a:r>
                        <a:rPr lang="en-US" sz="2000" kern="1200" cap="none" spc="0" noProof="0" dirty="0">
                          <a:solidFill>
                            <a:srgbClr val="000000"/>
                          </a:solidFill>
                        </a:rPr>
                        <a:t>Yash Ballabh</a:t>
                      </a:r>
                      <a:endParaRPr lang="en-US" sz="2000" kern="1200" cap="none" spc="0" dirty="0">
                        <a:solidFill>
                          <a:srgbClr val="000000"/>
                        </a:solidFill>
                      </a:endParaRPr>
                    </a:p>
                  </a:txBody>
                  <a:tcPr marL="130119" marR="130119" marT="65060" marB="116329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457200" rtl="0" eaLnBrk="1" latinLnBrk="0" hangingPunct="1">
                        <a:buNone/>
                      </a:pPr>
                      <a:r>
                        <a:rPr lang="en-US" sz="2000" kern="1200" cap="none" spc="0" noProof="0" dirty="0">
                          <a:solidFill>
                            <a:srgbClr val="000000"/>
                          </a:solidFill>
                        </a:rPr>
                        <a:t>Tools, CI/CD &amp; QA</a:t>
                      </a:r>
                      <a:endParaRPr lang="en-US" sz="2000" kern="1200" cap="none" spc="0" dirty="0">
                        <a:solidFill>
                          <a:srgbClr val="000000"/>
                        </a:solidFill>
                      </a:endParaRPr>
                    </a:p>
                  </a:txBody>
                  <a:tcPr marL="130119" marR="130119" marT="65060" marB="116329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4572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kern="1200" cap="none" spc="0" noProof="0" dirty="0">
                          <a:solidFill>
                            <a:srgbClr val="000000"/>
                          </a:solidFill>
                        </a:rPr>
                        <a:t>ballabyh@mail.uc.edu</a:t>
                      </a:r>
                    </a:p>
                  </a:txBody>
                  <a:tcPr marL="130119" marR="130119" marT="65060" marB="116329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DAE3F3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085646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029D5AD-8348-4446-B191-6A9B6FE03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Freeform: Shape 21">
            <a:extLst>
              <a:ext uri="{FF2B5EF4-FFF2-40B4-BE49-F238E27FC236}">
                <a16:creationId xmlns:a16="http://schemas.microsoft.com/office/drawing/2014/main" id="{A3F395A2-2B64-4749-BD93-2F159C7E1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3" name="Freeform: Shape 22">
            <a:extLst>
              <a:ext uri="{FF2B5EF4-FFF2-40B4-BE49-F238E27FC236}">
                <a16:creationId xmlns:a16="http://schemas.microsoft.com/office/drawing/2014/main" id="{5CF0135B-EAB8-4CA0-896C-2D897ECD2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53397"/>
            <a:ext cx="7886700" cy="1273233"/>
          </a:xfrm>
        </p:spPr>
        <p:txBody>
          <a:bodyPr>
            <a:normAutofit/>
          </a:bodyPr>
          <a:lstStyle/>
          <a:p>
            <a:r>
              <a:rPr lang="en-US" sz="3500" dirty="0"/>
              <a:t>Project Abstract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2C3387C-D24F-4737-8A37-1DC5CFF09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452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478024"/>
            <a:ext cx="7886700" cy="369417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900" dirty="0"/>
              <a:t>Adaptabrawl is a 2D multiplayer fighting game that blends attack, defense, and evasion into a fast, legible combat loop. Matches evolve through adaptive conditions—stage/weather/match modifiers—and clear status effects such as poison, stagger/heavy‑attack windup, and low‑HP state. The experience prioritizes readability (icons, timers, telegraphs) and fairness. Technically, we target Unity LTS with a host‑authoritative online model, client prediction with server reconciliation, snapshot sync, and lag‑compensated hit validation. Semester‑1 aims for a vertical slice: two fighters, one stage, and stable online 1v1 with join‑by‑code lobbies. The result is a transparent, adaptive fighter where players can fluidly switch styles without losing clarity or balance.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 dirty="0"/>
              <a:t>User Stories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US" sz="1900"/>
              <a:t>As an online competitor, I want reliable 1v1 lobbies with predictable latency and easy rematch/reconnect.</a:t>
            </a:r>
          </a:p>
          <a:p>
            <a:r>
              <a:rPr lang="en-US" sz="1900"/>
              <a:t>As a player on mid‑spec hardware, I want scalable VFX/performance presets to maintain frame rate.</a:t>
            </a:r>
          </a:p>
          <a:p>
            <a:r>
              <a:rPr lang="en-US" sz="1900"/>
              <a:t>As a character explorer, I want fighters with clear playstyles and difficulty tags for quick selection.</a:t>
            </a:r>
          </a:p>
          <a:p>
            <a:r>
              <a:rPr lang="en-US" sz="1900"/>
              <a:t>As a local 1v1 player, I want offline versus so we can play without internet or setup delays.</a:t>
            </a:r>
          </a:p>
          <a:p>
            <a:r>
              <a:rPr lang="en-US" sz="1900"/>
              <a:t>As a character developer, I want a documented character template to add or adjust fighters quickly.</a:t>
            </a:r>
          </a:p>
          <a:p>
            <a:r>
              <a:rPr lang="en-US" sz="1900"/>
              <a:t>As a friend‑match player, I want shareable room‑code invites so we can play immediately without accounts.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029D5AD-8348-4446-B191-6A9B6FE03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A3F395A2-2B64-4749-BD93-2F159C7E1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1899601"/>
          </a:xfrm>
          <a:custGeom>
            <a:avLst/>
            <a:gdLst>
              <a:gd name="connsiteX0" fmla="*/ 0 w 12188952"/>
              <a:gd name="connsiteY0" fmla="*/ 0 h 1899601"/>
              <a:gd name="connsiteX1" fmla="*/ 12188952 w 12188952"/>
              <a:gd name="connsiteY1" fmla="*/ 0 h 1899601"/>
              <a:gd name="connsiteX2" fmla="*/ 12188952 w 12188952"/>
              <a:gd name="connsiteY2" fmla="*/ 1635106 h 1899601"/>
              <a:gd name="connsiteX3" fmla="*/ 11356325 w 12188952"/>
              <a:gd name="connsiteY3" fmla="*/ 1707615 h 1899601"/>
              <a:gd name="connsiteX4" fmla="*/ 6096001 w 12188952"/>
              <a:gd name="connsiteY4" fmla="*/ 1899601 h 1899601"/>
              <a:gd name="connsiteX5" fmla="*/ 835678 w 12188952"/>
              <a:gd name="connsiteY5" fmla="*/ 1707615 h 1899601"/>
              <a:gd name="connsiteX6" fmla="*/ 0 w 12188952"/>
              <a:gd name="connsiteY6" fmla="*/ 1634841 h 189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88952" h="1899601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5CF0135B-EAB8-4CA0-896C-2D897ECD2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1890722"/>
          </a:xfrm>
          <a:custGeom>
            <a:avLst/>
            <a:gdLst>
              <a:gd name="connsiteX0" fmla="*/ 0 w 12192000"/>
              <a:gd name="connsiteY0" fmla="*/ 0 h 1890722"/>
              <a:gd name="connsiteX1" fmla="*/ 12192000 w 12192000"/>
              <a:gd name="connsiteY1" fmla="*/ 0 h 1890722"/>
              <a:gd name="connsiteX2" fmla="*/ 12192000 w 12192000"/>
              <a:gd name="connsiteY2" fmla="*/ 1626227 h 1890722"/>
              <a:gd name="connsiteX3" fmla="*/ 11359165 w 12192000"/>
              <a:gd name="connsiteY3" fmla="*/ 1698736 h 1890722"/>
              <a:gd name="connsiteX4" fmla="*/ 6097526 w 12192000"/>
              <a:gd name="connsiteY4" fmla="*/ 1890722 h 1890722"/>
              <a:gd name="connsiteX5" fmla="*/ 835887 w 12192000"/>
              <a:gd name="connsiteY5" fmla="*/ 1698736 h 1890722"/>
              <a:gd name="connsiteX6" fmla="*/ 0 w 12192000"/>
              <a:gd name="connsiteY6" fmla="*/ 1625962 h 189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890722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53397"/>
            <a:ext cx="7886700" cy="1273233"/>
          </a:xfrm>
        </p:spPr>
        <p:txBody>
          <a:bodyPr>
            <a:normAutofit/>
          </a:bodyPr>
          <a:lstStyle/>
          <a:p>
            <a:r>
              <a:rPr lang="en-US" sz="3500" dirty="0"/>
              <a:t>Design Diagrams : L1–L3 Overview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C3387C-D24F-4737-8A37-1DC5CFF09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452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478024"/>
            <a:ext cx="7886700" cy="36941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900" dirty="0"/>
              <a:t>Level 1 — System I/O: Inputs (Player Controls, Settings, Match Context, Network In, Clock); Outputs (Visuals, Audio, Haptics, Network Out, Telemetry/Replays/Logs).</a:t>
            </a:r>
          </a:p>
          <a:p>
            <a:r>
              <a:rPr lang="en-US" sz="1900" dirty="0"/>
              <a:t>Level 2 — Subsystems &amp; Flow: Input Layer, Settings/Accessibility, Match Config, Networking, Clock → Game State/Rules ↔ Physics/Collision ↔ Net Sync/Authority → UI/HUD → Rendering/Audio; Event Bus decouples producers/consumers.</a:t>
            </a:r>
            <a:endParaRPr lang="en-US" sz="1900" dirty="0">
              <a:ea typeface="Calibri"/>
              <a:cs typeface="Calibri"/>
            </a:endParaRPr>
          </a:p>
          <a:p>
            <a:r>
              <a:rPr lang="en-US" sz="1900" dirty="0"/>
              <a:t>Level 3 — Concrete Components: Input adapters/buffering, Rules Engine FSM (hits/hurt/status/round flow), Content DB (fighters/moves/stages/ status), deterministic timing, Transport/Session/ Sync with prediction &amp; correction, replays/telemetry, creator pipeline for new fighters.</a:t>
            </a:r>
            <a:endParaRPr lang="en-US" sz="19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 dirty="0"/>
              <a:t>Major Project Constraints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n-US" sz="1900"/>
              <a:t>Economic: Unity LTS + free/low‑cost tooling; vertical slice scope to keep costs near zero.</a:t>
            </a:r>
          </a:p>
          <a:p>
            <a:r>
              <a:rPr lang="en-US" sz="1900"/>
              <a:t>Network: Use Unity Relay/Lobby; bandwidth‑thrifty sync (20–30 Hz), simple prediction, join‑by‑code sessions.</a:t>
            </a:r>
          </a:p>
          <a:p>
            <a:r>
              <a:rPr lang="en-US" sz="1900"/>
              <a:t>Legal: Only original/permissive‑licensed assets (MIT/CC‑BY/etc.); track provenance; avoid third‑party IP.</a:t>
            </a:r>
          </a:p>
          <a:p>
            <a:r>
              <a:rPr lang="en-US" sz="1900"/>
              <a:t>Privacy/Security: Host‑authoritative hits; encrypt transport where supported; rate‑limit lobbies; minimal logs.</a:t>
            </a:r>
          </a:p>
          <a:p>
            <a:r>
              <a:rPr lang="en-US" sz="1900"/>
              <a:t>Accessibility &amp; Inclusion: Color‑safe palettes; scalable text; controller/keyboard parity; full remapping.</a:t>
            </a:r>
          </a:p>
          <a:p>
            <a:r>
              <a:rPr lang="en-US" sz="1900"/>
              <a:t>Fairness &amp; Disclosure: Adaptive modifiers are transparent and clearly surfaced in HUD/UI.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Project Progress — Current State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88E9C43-49EB-8488-A6A1-C47246467E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6772170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dirty="0">
                <a:solidFill>
                  <a:srgbClr val="FFFFFF"/>
                </a:solidFill>
              </a:rPr>
              <a:t>Expected Accomplishments (End of Fall Term)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7A0B1CD9-81B1-06F6-AC6D-879C1C4431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1317972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en-US" sz="4700" dirty="0"/>
              <a:t>Division of Work</a:t>
            </a:r>
            <a:endParaRPr lang="en-US" sz="4700" dirty="0">
              <a:ea typeface="Calibri"/>
              <a:cs typeface="Calibri"/>
            </a:endParaRPr>
          </a:p>
        </p:txBody>
      </p:sp>
      <p:sp>
        <p:nvSpPr>
          <p:cNvPr id="6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Kartavya Singh</a:t>
            </a:r>
            <a:endParaRPr lang="en-US" sz="200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700" dirty="0"/>
              <a:t>Netcode &amp; Infrastructure: authority model, prediction/reconciliation, Relay/Lobby, stress tests, CI setup.</a:t>
            </a:r>
            <a:br>
              <a:rPr lang="en-US" sz="1700" dirty="0">
                <a:ea typeface="Calibri"/>
                <a:cs typeface="Calibri"/>
              </a:rPr>
            </a:br>
            <a:endParaRPr lang="en-US" sz="1700"/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Saarthak Sinha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Combat/Systems: FSM (startup/active/recovery), hit/hurt/damage, two starter fighters, status/conditions v1, frame data tuning.</a:t>
            </a:r>
            <a:br>
              <a:rPr lang="en-US" sz="1700" dirty="0"/>
            </a:br>
            <a:endParaRPr lang="en-US" sz="1700"/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Kanav Shetty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UX/UI &amp; Content: HUD (HP, status timers), lobby/post‑match flows, input maps &amp; rebind UI, readable VFX/SFX, accessibility tests.</a:t>
            </a:r>
            <a:br>
              <a:rPr lang="en-US" sz="1700" dirty="0">
                <a:ea typeface="Calibri"/>
                <a:cs typeface="Calibri"/>
              </a:rPr>
            </a:br>
            <a:endParaRPr lang="en-US" sz="1700"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Yash Ballabh</a:t>
            </a:r>
            <a:endParaRPr lang="en-US" sz="20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1700" dirty="0"/>
              <a:t>Tools, CI/CD &amp; QA: Win64 CI builds, telemetry/exporter, training mode &amp; hitbox viewer, perf profiling &amp; budgets, docs &amp; packaging.</a:t>
            </a:r>
            <a:endParaRPr lang="en-US" sz="17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26E08F7-06CF-2A7B-9B87-3D59C732CE9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9090" r="19218" b="8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Expected Demo at Expo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3423560-5637-910A-55EF-1A6F857176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201139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59807F-B6FA-44D3-9A53-C55B6B568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80681"/>
            <a:ext cx="9144000" cy="277731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1AE9A8-2397-CC51-666E-B037B330A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5" y="5279511"/>
            <a:ext cx="7261411" cy="739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>
                <a:solidFill>
                  <a:schemeClr val="tx1">
                    <a:lumMod val="85000"/>
                    <a:lumOff val="15000"/>
                  </a:schemeClr>
                </a:solidFill>
              </a:rPr>
              <a:t>Presentation Demo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7D10CA-7AFB-AF8E-361F-B6975977B7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76" r="10406" b="-1"/>
          <a:stretch>
            <a:fillRect/>
          </a:stretch>
        </p:blipFill>
        <p:spPr>
          <a:xfrm>
            <a:off x="20" y="10"/>
            <a:ext cx="9143979" cy="5886523"/>
          </a:xfrm>
          <a:custGeom>
            <a:avLst/>
            <a:gdLst/>
            <a:ahLst/>
            <a:cxnLst/>
            <a:rect l="l" t="t" r="r" b="b"/>
            <a:pathLst>
              <a:path w="12191999" h="5886533">
                <a:moveTo>
                  <a:pt x="4721173" y="4907914"/>
                </a:moveTo>
                <a:lnTo>
                  <a:pt x="4722109" y="4908125"/>
                </a:lnTo>
                <a:cubicBezTo>
                  <a:pt x="4721143" y="4908767"/>
                  <a:pt x="4718263" y="4909373"/>
                  <a:pt x="4717199" y="4909396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5751311"/>
                </a:lnTo>
                <a:lnTo>
                  <a:pt x="12140860" y="5770509"/>
                </a:lnTo>
                <a:cubicBezTo>
                  <a:pt x="12126656" y="5772723"/>
                  <a:pt x="12093589" y="5827925"/>
                  <a:pt x="12080161" y="5826358"/>
                </a:cubicBezTo>
                <a:cubicBezTo>
                  <a:pt x="11978188" y="5850511"/>
                  <a:pt x="11967361" y="5873564"/>
                  <a:pt x="11917885" y="5861578"/>
                </a:cubicBezTo>
                <a:cubicBezTo>
                  <a:pt x="11872779" y="5859863"/>
                  <a:pt x="11928861" y="5896778"/>
                  <a:pt x="11894610" y="5883738"/>
                </a:cubicBezTo>
                <a:cubicBezTo>
                  <a:pt x="11860359" y="5870698"/>
                  <a:pt x="11736091" y="5807232"/>
                  <a:pt x="11712379" y="5783337"/>
                </a:cubicBezTo>
                <a:cubicBezTo>
                  <a:pt x="11688667" y="5759442"/>
                  <a:pt x="11627912" y="5782933"/>
                  <a:pt x="11585366" y="5740371"/>
                </a:cubicBezTo>
                <a:lnTo>
                  <a:pt x="11516470" y="5663679"/>
                </a:lnTo>
                <a:cubicBezTo>
                  <a:pt x="11468274" y="5661847"/>
                  <a:pt x="11507335" y="5626593"/>
                  <a:pt x="11462692" y="5610127"/>
                </a:cubicBezTo>
                <a:cubicBezTo>
                  <a:pt x="11417567" y="5608500"/>
                  <a:pt x="11408021" y="5556613"/>
                  <a:pt x="11369712" y="5548654"/>
                </a:cubicBezTo>
                <a:cubicBezTo>
                  <a:pt x="11354317" y="5554704"/>
                  <a:pt x="11288328" y="5499810"/>
                  <a:pt x="11273969" y="5488986"/>
                </a:cubicBezTo>
                <a:cubicBezTo>
                  <a:pt x="11231913" y="5490378"/>
                  <a:pt x="11221973" y="5480544"/>
                  <a:pt x="11195084" y="5467967"/>
                </a:cubicBezTo>
                <a:cubicBezTo>
                  <a:pt x="11164086" y="5497749"/>
                  <a:pt x="11171649" y="5471790"/>
                  <a:pt x="11143408" y="5468614"/>
                </a:cubicBezTo>
                <a:cubicBezTo>
                  <a:pt x="11125906" y="5464975"/>
                  <a:pt x="11102603" y="5460835"/>
                  <a:pt x="11085935" y="5459365"/>
                </a:cubicBezTo>
                <a:cubicBezTo>
                  <a:pt x="11057493" y="5459661"/>
                  <a:pt x="11029906" y="5441496"/>
                  <a:pt x="11030953" y="5456484"/>
                </a:cubicBezTo>
                <a:cubicBezTo>
                  <a:pt x="11007784" y="5459001"/>
                  <a:pt x="10982005" y="5463178"/>
                  <a:pt x="10951060" y="5461240"/>
                </a:cubicBezTo>
                <a:cubicBezTo>
                  <a:pt x="10885365" y="5424406"/>
                  <a:pt x="10915288" y="5460968"/>
                  <a:pt x="10857721" y="5448157"/>
                </a:cubicBezTo>
                <a:cubicBezTo>
                  <a:pt x="10806646" y="5435790"/>
                  <a:pt x="10707075" y="5402712"/>
                  <a:pt x="10644616" y="5387039"/>
                </a:cubicBezTo>
                <a:cubicBezTo>
                  <a:pt x="10616446" y="5382224"/>
                  <a:pt x="10558603" y="5371613"/>
                  <a:pt x="10519277" y="5366793"/>
                </a:cubicBezTo>
                <a:cubicBezTo>
                  <a:pt x="10495461" y="5368312"/>
                  <a:pt x="10473830" y="5354868"/>
                  <a:pt x="10445981" y="5364735"/>
                </a:cubicBezTo>
                <a:cubicBezTo>
                  <a:pt x="10436536" y="5368773"/>
                  <a:pt x="10409281" y="5367966"/>
                  <a:pt x="10383865" y="5360888"/>
                </a:cubicBezTo>
                <a:cubicBezTo>
                  <a:pt x="10374827" y="5369095"/>
                  <a:pt x="10347864" y="5360432"/>
                  <a:pt x="10336852" y="5360277"/>
                </a:cubicBezTo>
                <a:cubicBezTo>
                  <a:pt x="10323586" y="5366987"/>
                  <a:pt x="10274741" y="5357921"/>
                  <a:pt x="10261098" y="5350526"/>
                </a:cubicBezTo>
                <a:lnTo>
                  <a:pt x="10126497" y="5339011"/>
                </a:lnTo>
                <a:lnTo>
                  <a:pt x="10082166" y="5336916"/>
                </a:lnTo>
                <a:cubicBezTo>
                  <a:pt x="10074567" y="5338985"/>
                  <a:pt x="10046860" y="5337657"/>
                  <a:pt x="10039237" y="5338580"/>
                </a:cubicBezTo>
                <a:cubicBezTo>
                  <a:pt x="9998458" y="5328479"/>
                  <a:pt x="9984394" y="5327989"/>
                  <a:pt x="9960016" y="5323065"/>
                </a:cubicBezTo>
                <a:cubicBezTo>
                  <a:pt x="9918980" y="5322923"/>
                  <a:pt x="9888741" y="5326122"/>
                  <a:pt x="9847789" y="5316297"/>
                </a:cubicBezTo>
                <a:lnTo>
                  <a:pt x="9728306" y="5296090"/>
                </a:lnTo>
                <a:cubicBezTo>
                  <a:pt x="9675056" y="5305676"/>
                  <a:pt x="9602035" y="5297282"/>
                  <a:pt x="9584504" y="5284670"/>
                </a:cubicBezTo>
                <a:cubicBezTo>
                  <a:pt x="9518952" y="5270394"/>
                  <a:pt x="9415429" y="5244268"/>
                  <a:pt x="9343049" y="5238968"/>
                </a:cubicBezTo>
                <a:lnTo>
                  <a:pt x="9231367" y="5187063"/>
                </a:lnTo>
                <a:lnTo>
                  <a:pt x="9194807" y="5176984"/>
                </a:lnTo>
                <a:lnTo>
                  <a:pt x="9189243" y="5167745"/>
                </a:lnTo>
                <a:lnTo>
                  <a:pt x="9151229" y="5156543"/>
                </a:lnTo>
                <a:lnTo>
                  <a:pt x="9150207" y="5157608"/>
                </a:lnTo>
                <a:cubicBezTo>
                  <a:pt x="9147045" y="5159739"/>
                  <a:pt x="9143081" y="5160831"/>
                  <a:pt x="9137315" y="5159777"/>
                </a:cubicBezTo>
                <a:cubicBezTo>
                  <a:pt x="9138862" y="5179261"/>
                  <a:pt x="9130952" y="5165972"/>
                  <a:pt x="9113809" y="5161143"/>
                </a:cubicBezTo>
                <a:cubicBezTo>
                  <a:pt x="9112388" y="5190326"/>
                  <a:pt x="9068114" y="5155892"/>
                  <a:pt x="9053450" y="5169457"/>
                </a:cubicBezTo>
                <a:lnTo>
                  <a:pt x="9005483" y="5166172"/>
                </a:lnTo>
                <a:lnTo>
                  <a:pt x="9005198" y="5166412"/>
                </a:lnTo>
                <a:cubicBezTo>
                  <a:pt x="9003143" y="5166632"/>
                  <a:pt x="9000324" y="5166304"/>
                  <a:pt x="8996229" y="5165201"/>
                </a:cubicBezTo>
                <a:lnTo>
                  <a:pt x="8990391" y="5163140"/>
                </a:lnTo>
                <a:lnTo>
                  <a:pt x="8974334" y="5159914"/>
                </a:lnTo>
                <a:lnTo>
                  <a:pt x="8968008" y="5160614"/>
                </a:lnTo>
                <a:lnTo>
                  <a:pt x="8963045" y="5162839"/>
                </a:lnTo>
                <a:cubicBezTo>
                  <a:pt x="8954690" y="5154888"/>
                  <a:pt x="8955517" y="5145940"/>
                  <a:pt x="8928985" y="5166027"/>
                </a:cubicBezTo>
                <a:cubicBezTo>
                  <a:pt x="8898031" y="5165007"/>
                  <a:pt x="8789300" y="5150352"/>
                  <a:pt x="8752441" y="5146795"/>
                </a:cubicBezTo>
                <a:cubicBezTo>
                  <a:pt x="8719819" y="5136075"/>
                  <a:pt x="8748194" y="5149736"/>
                  <a:pt x="8707844" y="5144694"/>
                </a:cubicBezTo>
                <a:cubicBezTo>
                  <a:pt x="8671606" y="5125159"/>
                  <a:pt x="8639142" y="5141599"/>
                  <a:pt x="8596068" y="5136122"/>
                </a:cubicBezTo>
                <a:lnTo>
                  <a:pt x="8525227" y="5150964"/>
                </a:lnTo>
                <a:lnTo>
                  <a:pt x="8510980" y="5145049"/>
                </a:lnTo>
                <a:lnTo>
                  <a:pt x="8506164" y="5142048"/>
                </a:lnTo>
                <a:cubicBezTo>
                  <a:pt x="8502646" y="5140271"/>
                  <a:pt x="8500045" y="5139460"/>
                  <a:pt x="8497965" y="5139310"/>
                </a:cubicBezTo>
                <a:lnTo>
                  <a:pt x="8497591" y="5139489"/>
                </a:lnTo>
                <a:lnTo>
                  <a:pt x="8490246" y="5136439"/>
                </a:lnTo>
                <a:lnTo>
                  <a:pt x="8367179" y="5122397"/>
                </a:lnTo>
                <a:cubicBezTo>
                  <a:pt x="8362021" y="5120372"/>
                  <a:pt x="8357730" y="5120720"/>
                  <a:pt x="8353796" y="5122203"/>
                </a:cubicBezTo>
                <a:lnTo>
                  <a:pt x="8352369" y="5123043"/>
                </a:lnTo>
                <a:lnTo>
                  <a:pt x="8320101" y="5105625"/>
                </a:lnTo>
                <a:lnTo>
                  <a:pt x="8314429" y="5105299"/>
                </a:lnTo>
                <a:lnTo>
                  <a:pt x="8295170" y="5091404"/>
                </a:lnTo>
                <a:lnTo>
                  <a:pt x="8284273" y="5085581"/>
                </a:lnTo>
                <a:lnTo>
                  <a:pt x="8283146" y="5081138"/>
                </a:lnTo>
                <a:cubicBezTo>
                  <a:pt x="8280842" y="5077893"/>
                  <a:pt x="8276148" y="5075245"/>
                  <a:pt x="8266072" y="5073963"/>
                </a:cubicBezTo>
                <a:lnTo>
                  <a:pt x="8263373" y="5074193"/>
                </a:lnTo>
                <a:lnTo>
                  <a:pt x="8252030" y="5064350"/>
                </a:lnTo>
                <a:cubicBezTo>
                  <a:pt x="8248856" y="5060500"/>
                  <a:pt x="8246644" y="5056218"/>
                  <a:pt x="8245831" y="5051358"/>
                </a:cubicBezTo>
                <a:cubicBezTo>
                  <a:pt x="8181824" y="5054265"/>
                  <a:pt x="8147127" y="5020143"/>
                  <a:pt x="8090268" y="5005197"/>
                </a:cubicBezTo>
                <a:cubicBezTo>
                  <a:pt x="8025464" y="4982055"/>
                  <a:pt x="7967067" y="4960819"/>
                  <a:pt x="7905404" y="4963224"/>
                </a:cubicBezTo>
                <a:cubicBezTo>
                  <a:pt x="7835116" y="4948312"/>
                  <a:pt x="7780962" y="4946081"/>
                  <a:pt x="7718741" y="4937509"/>
                </a:cubicBezTo>
                <a:lnTo>
                  <a:pt x="7614343" y="4940980"/>
                </a:lnTo>
                <a:lnTo>
                  <a:pt x="7527539" y="4935152"/>
                </a:lnTo>
                <a:lnTo>
                  <a:pt x="7519567" y="4932599"/>
                </a:lnTo>
                <a:cubicBezTo>
                  <a:pt x="7513989" y="4931260"/>
                  <a:pt x="7510169" y="4930910"/>
                  <a:pt x="7507408" y="4931264"/>
                </a:cubicBezTo>
                <a:lnTo>
                  <a:pt x="7507036" y="4931591"/>
                </a:lnTo>
                <a:lnTo>
                  <a:pt x="7495791" y="4929639"/>
                </a:lnTo>
                <a:cubicBezTo>
                  <a:pt x="7476982" y="4925521"/>
                  <a:pt x="7422524" y="4942937"/>
                  <a:pt x="7405387" y="4937744"/>
                </a:cubicBezTo>
                <a:cubicBezTo>
                  <a:pt x="7374785" y="4940694"/>
                  <a:pt x="7333986" y="4941799"/>
                  <a:pt x="7312176" y="4947339"/>
                </a:cubicBezTo>
                <a:lnTo>
                  <a:pt x="7310849" y="4948781"/>
                </a:lnTo>
                <a:lnTo>
                  <a:pt x="7218556" y="4923532"/>
                </a:lnTo>
                <a:lnTo>
                  <a:pt x="7201098" y="4918982"/>
                </a:lnTo>
                <a:lnTo>
                  <a:pt x="7197000" y="4913624"/>
                </a:lnTo>
                <a:cubicBezTo>
                  <a:pt x="7192108" y="4910101"/>
                  <a:pt x="7184502" y="4907962"/>
                  <a:pt x="7170804" y="4908976"/>
                </a:cubicBezTo>
                <a:lnTo>
                  <a:pt x="7096984" y="4896748"/>
                </a:lnTo>
                <a:cubicBezTo>
                  <a:pt x="7061144" y="4895770"/>
                  <a:pt x="7050185" y="4894793"/>
                  <a:pt x="7018492" y="4897122"/>
                </a:cubicBezTo>
                <a:cubicBezTo>
                  <a:pt x="6937524" y="4886184"/>
                  <a:pt x="6943641" y="4862018"/>
                  <a:pt x="6904142" y="4867616"/>
                </a:cubicBezTo>
                <a:cubicBezTo>
                  <a:pt x="6871918" y="4872824"/>
                  <a:pt x="6787985" y="4853750"/>
                  <a:pt x="6708218" y="4839661"/>
                </a:cubicBezTo>
                <a:cubicBezTo>
                  <a:pt x="6649102" y="4830206"/>
                  <a:pt x="6628102" y="4816105"/>
                  <a:pt x="6549451" y="4810885"/>
                </a:cubicBezTo>
                <a:cubicBezTo>
                  <a:pt x="6472150" y="4766795"/>
                  <a:pt x="6409692" y="4790518"/>
                  <a:pt x="6317556" y="4764085"/>
                </a:cubicBezTo>
                <a:cubicBezTo>
                  <a:pt x="6297547" y="4748563"/>
                  <a:pt x="6209288" y="4765756"/>
                  <a:pt x="6168670" y="4761998"/>
                </a:cubicBezTo>
                <a:cubicBezTo>
                  <a:pt x="6128052" y="4758240"/>
                  <a:pt x="6090536" y="4744692"/>
                  <a:pt x="6073844" y="4741536"/>
                </a:cubicBezTo>
                <a:lnTo>
                  <a:pt x="6068526" y="4743073"/>
                </a:lnTo>
                <a:lnTo>
                  <a:pt x="6048634" y="4742390"/>
                </a:lnTo>
                <a:lnTo>
                  <a:pt x="6041279" y="4750739"/>
                </a:lnTo>
                <a:lnTo>
                  <a:pt x="6010088" y="4755832"/>
                </a:lnTo>
                <a:cubicBezTo>
                  <a:pt x="5998677" y="4756419"/>
                  <a:pt x="5970124" y="4755506"/>
                  <a:pt x="5957373" y="4752188"/>
                </a:cubicBezTo>
                <a:lnTo>
                  <a:pt x="5758915" y="4736496"/>
                </a:lnTo>
                <a:lnTo>
                  <a:pt x="5626957" y="4735473"/>
                </a:lnTo>
                <a:lnTo>
                  <a:pt x="5470902" y="4749493"/>
                </a:lnTo>
                <a:cubicBezTo>
                  <a:pt x="5478131" y="4762521"/>
                  <a:pt x="5439006" y="4748455"/>
                  <a:pt x="5432757" y="4760746"/>
                </a:cubicBezTo>
                <a:cubicBezTo>
                  <a:pt x="5429365" y="4770778"/>
                  <a:pt x="5391824" y="4775462"/>
                  <a:pt x="5381664" y="4778448"/>
                </a:cubicBezTo>
                <a:lnTo>
                  <a:pt x="5261760" y="4798865"/>
                </a:lnTo>
                <a:cubicBezTo>
                  <a:pt x="5251595" y="4799049"/>
                  <a:pt x="5230547" y="4807359"/>
                  <a:pt x="5222959" y="4809989"/>
                </a:cubicBezTo>
                <a:lnTo>
                  <a:pt x="5174657" y="4812979"/>
                </a:lnTo>
                <a:lnTo>
                  <a:pt x="5156551" y="4820202"/>
                </a:lnTo>
                <a:lnTo>
                  <a:pt x="5142595" y="4823602"/>
                </a:lnTo>
                <a:lnTo>
                  <a:pt x="5139593" y="4825703"/>
                </a:lnTo>
                <a:cubicBezTo>
                  <a:pt x="5133873" y="4829743"/>
                  <a:pt x="5128076" y="4833554"/>
                  <a:pt x="5121656" y="4836556"/>
                </a:cubicBezTo>
                <a:cubicBezTo>
                  <a:pt x="5108317" y="4807937"/>
                  <a:pt x="5064853" y="4857373"/>
                  <a:pt x="5065787" y="4829985"/>
                </a:cubicBezTo>
                <a:cubicBezTo>
                  <a:pt x="5028193" y="4841501"/>
                  <a:pt x="5038944" y="4812412"/>
                  <a:pt x="5011510" y="4846366"/>
                </a:cubicBezTo>
                <a:cubicBezTo>
                  <a:pt x="4937023" y="4845983"/>
                  <a:pt x="4916353" y="4832976"/>
                  <a:pt x="4840437" y="4870383"/>
                </a:cubicBezTo>
                <a:cubicBezTo>
                  <a:pt x="4806739" y="4887025"/>
                  <a:pt x="4784106" y="4898171"/>
                  <a:pt x="4762444" y="4898151"/>
                </a:cubicBezTo>
                <a:cubicBezTo>
                  <a:pt x="4741323" y="4902652"/>
                  <a:pt x="4729481" y="4905474"/>
                  <a:pt x="4723182" y="4907166"/>
                </a:cubicBezTo>
                <a:lnTo>
                  <a:pt x="4721173" y="4907914"/>
                </a:lnTo>
                <a:lnTo>
                  <a:pt x="4715524" y="4906639"/>
                </a:lnTo>
                <a:cubicBezTo>
                  <a:pt x="4680148" y="4913595"/>
                  <a:pt x="4524744" y="4914403"/>
                  <a:pt x="4515810" y="4916541"/>
                </a:cubicBezTo>
                <a:cubicBezTo>
                  <a:pt x="4457819" y="4929653"/>
                  <a:pt x="4462659" y="4930394"/>
                  <a:pt x="4428539" y="4927192"/>
                </a:cubicBezTo>
                <a:cubicBezTo>
                  <a:pt x="4423303" y="4923821"/>
                  <a:pt x="4368974" y="4930115"/>
                  <a:pt x="4362872" y="4928538"/>
                </a:cubicBezTo>
                <a:lnTo>
                  <a:pt x="4316962" y="4921923"/>
                </a:lnTo>
                <a:lnTo>
                  <a:pt x="4315106" y="4923264"/>
                </a:lnTo>
                <a:cubicBezTo>
                  <a:pt x="4306123" y="4926635"/>
                  <a:pt x="4299993" y="4926634"/>
                  <a:pt x="4295140" y="4925143"/>
                </a:cubicBezTo>
                <a:lnTo>
                  <a:pt x="4290059" y="4922226"/>
                </a:lnTo>
                <a:lnTo>
                  <a:pt x="4276138" y="4922472"/>
                </a:lnTo>
                <a:lnTo>
                  <a:pt x="4248113" y="4920148"/>
                </a:lnTo>
                <a:lnTo>
                  <a:pt x="4202046" y="4922943"/>
                </a:lnTo>
                <a:cubicBezTo>
                  <a:pt x="4201945" y="4923363"/>
                  <a:pt x="4201842" y="4923782"/>
                  <a:pt x="4201741" y="4924202"/>
                </a:cubicBezTo>
                <a:cubicBezTo>
                  <a:pt x="4200116" y="4927039"/>
                  <a:pt x="4197140" y="4929158"/>
                  <a:pt x="4191245" y="4929836"/>
                </a:cubicBezTo>
                <a:cubicBezTo>
                  <a:pt x="4204212" y="4947125"/>
                  <a:pt x="4161274" y="4945230"/>
                  <a:pt x="4142742" y="4945701"/>
                </a:cubicBezTo>
                <a:cubicBezTo>
                  <a:pt x="4124717" y="4952767"/>
                  <a:pt x="4099099" y="4966347"/>
                  <a:pt x="4083094" y="4972234"/>
                </a:cubicBezTo>
                <a:lnTo>
                  <a:pt x="4074543" y="4973069"/>
                </a:lnTo>
                <a:cubicBezTo>
                  <a:pt x="4074504" y="4973170"/>
                  <a:pt x="4074463" y="4973269"/>
                  <a:pt x="4074424" y="4973368"/>
                </a:cubicBezTo>
                <a:cubicBezTo>
                  <a:pt x="4072678" y="4974152"/>
                  <a:pt x="4069906" y="4974653"/>
                  <a:pt x="4065507" y="4974812"/>
                </a:cubicBezTo>
                <a:lnTo>
                  <a:pt x="4058951" y="4974594"/>
                </a:lnTo>
                <a:lnTo>
                  <a:pt x="4042361" y="4976215"/>
                </a:lnTo>
                <a:lnTo>
                  <a:pt x="4036993" y="4978649"/>
                </a:lnTo>
                <a:lnTo>
                  <a:pt x="4035360" y="4982316"/>
                </a:lnTo>
                <a:lnTo>
                  <a:pt x="4033775" y="4982081"/>
                </a:lnTo>
                <a:cubicBezTo>
                  <a:pt x="4021424" y="4977217"/>
                  <a:pt x="4016874" y="4968841"/>
                  <a:pt x="4004535" y="4994649"/>
                </a:cubicBezTo>
                <a:cubicBezTo>
                  <a:pt x="3976667" y="4987584"/>
                  <a:pt x="3972977" y="5002913"/>
                  <a:pt x="3936843" y="5012106"/>
                </a:cubicBezTo>
                <a:cubicBezTo>
                  <a:pt x="3920506" y="5004382"/>
                  <a:pt x="3908535" y="5009071"/>
                  <a:pt x="3897272" y="5017761"/>
                </a:cubicBezTo>
                <a:cubicBezTo>
                  <a:pt x="3861092" y="5017265"/>
                  <a:pt x="3829628" y="5031135"/>
                  <a:pt x="3789757" y="5037999"/>
                </a:cubicBezTo>
                <a:cubicBezTo>
                  <a:pt x="3741007" y="5052705"/>
                  <a:pt x="3725129" y="5054682"/>
                  <a:pt x="3682510" y="5061922"/>
                </a:cubicBezTo>
                <a:lnTo>
                  <a:pt x="3610032" y="5094193"/>
                </a:lnTo>
                <a:lnTo>
                  <a:pt x="3603852" y="5092831"/>
                </a:lnTo>
                <a:cubicBezTo>
                  <a:pt x="3599580" y="5092212"/>
                  <a:pt x="3596726" y="5092212"/>
                  <a:pt x="3594733" y="5092667"/>
                </a:cubicBezTo>
                <a:lnTo>
                  <a:pt x="3594498" y="5092936"/>
                </a:lnTo>
                <a:lnTo>
                  <a:pt x="3585975" y="5092246"/>
                </a:lnTo>
                <a:cubicBezTo>
                  <a:pt x="3571623" y="5090455"/>
                  <a:pt x="3549389" y="5104654"/>
                  <a:pt x="3536132" y="5101945"/>
                </a:cubicBezTo>
                <a:cubicBezTo>
                  <a:pt x="3513940" y="5106241"/>
                  <a:pt x="3488622" y="5099976"/>
                  <a:pt x="3473220" y="5105606"/>
                </a:cubicBezTo>
                <a:lnTo>
                  <a:pt x="3400725" y="5117654"/>
                </a:lnTo>
                <a:lnTo>
                  <a:pt x="3375935" y="5106247"/>
                </a:lnTo>
                <a:lnTo>
                  <a:pt x="3348219" y="5109860"/>
                </a:lnTo>
                <a:cubicBezTo>
                  <a:pt x="3337206" y="5110533"/>
                  <a:pt x="3327054" y="5111295"/>
                  <a:pt x="3319639" y="5114795"/>
                </a:cubicBezTo>
                <a:lnTo>
                  <a:pt x="3248529" y="5133347"/>
                </a:lnTo>
                <a:lnTo>
                  <a:pt x="3210308" y="5119794"/>
                </a:lnTo>
                <a:cubicBezTo>
                  <a:pt x="3206088" y="5117870"/>
                  <a:pt x="3200152" y="5117326"/>
                  <a:pt x="3190375" y="5119915"/>
                </a:cubicBezTo>
                <a:lnTo>
                  <a:pt x="3188145" y="5121096"/>
                </a:lnTo>
                <a:cubicBezTo>
                  <a:pt x="3182625" y="5119116"/>
                  <a:pt x="3141856" y="5121682"/>
                  <a:pt x="3108596" y="5122416"/>
                </a:cubicBezTo>
                <a:cubicBezTo>
                  <a:pt x="3055968" y="5124842"/>
                  <a:pt x="3048940" y="5117475"/>
                  <a:pt x="2988584" y="5125502"/>
                </a:cubicBezTo>
                <a:cubicBezTo>
                  <a:pt x="2928853" y="5129690"/>
                  <a:pt x="2917951" y="5124649"/>
                  <a:pt x="2876540" y="5133019"/>
                </a:cubicBezTo>
                <a:lnTo>
                  <a:pt x="2626864" y="5133771"/>
                </a:lnTo>
                <a:cubicBezTo>
                  <a:pt x="2562348" y="5111858"/>
                  <a:pt x="2563422" y="5142456"/>
                  <a:pt x="2491422" y="5135486"/>
                </a:cubicBezTo>
                <a:cubicBezTo>
                  <a:pt x="2433091" y="5200962"/>
                  <a:pt x="2455709" y="5160483"/>
                  <a:pt x="2415617" y="5168715"/>
                </a:cubicBezTo>
                <a:lnTo>
                  <a:pt x="2290098" y="5166151"/>
                </a:lnTo>
                <a:cubicBezTo>
                  <a:pt x="2257057" y="5152522"/>
                  <a:pt x="2202458" y="5187690"/>
                  <a:pt x="2161714" y="5169302"/>
                </a:cubicBezTo>
                <a:cubicBezTo>
                  <a:pt x="2122714" y="5172302"/>
                  <a:pt x="2080450" y="5180350"/>
                  <a:pt x="2056089" y="5184144"/>
                </a:cubicBezTo>
                <a:cubicBezTo>
                  <a:pt x="2019828" y="5191108"/>
                  <a:pt x="1978839" y="5203797"/>
                  <a:pt x="1944153" y="5211084"/>
                </a:cubicBezTo>
                <a:cubicBezTo>
                  <a:pt x="1925867" y="5199079"/>
                  <a:pt x="1896027" y="5224183"/>
                  <a:pt x="1847968" y="5227868"/>
                </a:cubicBezTo>
                <a:cubicBezTo>
                  <a:pt x="1827977" y="5213971"/>
                  <a:pt x="1815570" y="5230544"/>
                  <a:pt x="1777083" y="5212267"/>
                </a:cubicBezTo>
                <a:cubicBezTo>
                  <a:pt x="1775439" y="5214216"/>
                  <a:pt x="1773397" y="5216035"/>
                  <a:pt x="1771025" y="5217668"/>
                </a:cubicBezTo>
                <a:cubicBezTo>
                  <a:pt x="1757251" y="5227146"/>
                  <a:pt x="1735528" y="5228402"/>
                  <a:pt x="1722509" y="5220470"/>
                </a:cubicBezTo>
                <a:cubicBezTo>
                  <a:pt x="1691779" y="5208440"/>
                  <a:pt x="1662321" y="5203305"/>
                  <a:pt x="1633941" y="5200774"/>
                </a:cubicBezTo>
                <a:lnTo>
                  <a:pt x="1586145" y="5210184"/>
                </a:lnTo>
                <a:cubicBezTo>
                  <a:pt x="1567948" y="5215416"/>
                  <a:pt x="1545900" y="5226363"/>
                  <a:pt x="1524748" y="5232173"/>
                </a:cubicBezTo>
                <a:cubicBezTo>
                  <a:pt x="1502586" y="5235395"/>
                  <a:pt x="1478013" y="5230993"/>
                  <a:pt x="1459242" y="5245044"/>
                </a:cubicBezTo>
                <a:cubicBezTo>
                  <a:pt x="1421474" y="5260197"/>
                  <a:pt x="1374524" y="5244220"/>
                  <a:pt x="1349457" y="5280705"/>
                </a:cubicBezTo>
                <a:cubicBezTo>
                  <a:pt x="1273276" y="5302389"/>
                  <a:pt x="1121512" y="5336260"/>
                  <a:pt x="1009212" y="5361227"/>
                </a:cubicBezTo>
                <a:cubicBezTo>
                  <a:pt x="939016" y="5373529"/>
                  <a:pt x="866895" y="5370149"/>
                  <a:pt x="808572" y="5377024"/>
                </a:cubicBezTo>
                <a:cubicBezTo>
                  <a:pt x="802823" y="5374184"/>
                  <a:pt x="726016" y="5397963"/>
                  <a:pt x="719549" y="5396991"/>
                </a:cubicBezTo>
                <a:lnTo>
                  <a:pt x="698795" y="5397657"/>
                </a:lnTo>
                <a:cubicBezTo>
                  <a:pt x="689833" y="5401894"/>
                  <a:pt x="683492" y="5402495"/>
                  <a:pt x="678327" y="5401487"/>
                </a:cubicBezTo>
                <a:lnTo>
                  <a:pt x="672784" y="5399085"/>
                </a:lnTo>
                <a:lnTo>
                  <a:pt x="658406" y="5400696"/>
                </a:lnTo>
                <a:lnTo>
                  <a:pt x="629185" y="5401132"/>
                </a:lnTo>
                <a:lnTo>
                  <a:pt x="624558" y="5403782"/>
                </a:lnTo>
                <a:lnTo>
                  <a:pt x="581798" y="5408438"/>
                </a:lnTo>
                <a:cubicBezTo>
                  <a:pt x="581736" y="5408865"/>
                  <a:pt x="581671" y="5409294"/>
                  <a:pt x="581608" y="5409722"/>
                </a:cubicBezTo>
                <a:cubicBezTo>
                  <a:pt x="580204" y="5412704"/>
                  <a:pt x="577331" y="5415106"/>
                  <a:pt x="571299" y="5416358"/>
                </a:cubicBezTo>
                <a:cubicBezTo>
                  <a:pt x="551623" y="5426267"/>
                  <a:pt x="484499" y="5459654"/>
                  <a:pt x="463549" y="5469173"/>
                </a:cubicBezTo>
                <a:cubicBezTo>
                  <a:pt x="453136" y="5470720"/>
                  <a:pt x="449731" y="5472678"/>
                  <a:pt x="445606" y="5473465"/>
                </a:cubicBezTo>
                <a:lnTo>
                  <a:pt x="438799" y="5473893"/>
                </a:lnTo>
                <a:cubicBezTo>
                  <a:pt x="417222" y="5482183"/>
                  <a:pt x="343312" y="5513407"/>
                  <a:pt x="316138" y="5523213"/>
                </a:cubicBezTo>
                <a:cubicBezTo>
                  <a:pt x="298481" y="5517132"/>
                  <a:pt x="286556" y="5522972"/>
                  <a:pt x="275748" y="5532726"/>
                </a:cubicBezTo>
                <a:cubicBezTo>
                  <a:pt x="238274" y="5535784"/>
                  <a:pt x="207076" y="5552679"/>
                  <a:pt x="166496" y="5563424"/>
                </a:cubicBezTo>
                <a:lnTo>
                  <a:pt x="0" y="562988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279231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Adaptabrawl — Fall Design Presentation (Assignment #8)</vt:lpstr>
      <vt:lpstr>Team &amp; Contacts</vt:lpstr>
      <vt:lpstr>Project Abstract</vt:lpstr>
      <vt:lpstr>User Stories</vt:lpstr>
      <vt:lpstr>Design Diagrams : L1–L3 Overview</vt:lpstr>
      <vt:lpstr>Major Project Constraints</vt:lpstr>
      <vt:lpstr>Project Progress — Current State</vt:lpstr>
      <vt:lpstr>Expected Accomplishments (End of Fall Term)</vt:lpstr>
      <vt:lpstr>Division of Work</vt:lpstr>
      <vt:lpstr>Expected Demo at Expo</vt:lpstr>
      <vt:lpstr>Presentation Demo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152</cp:revision>
  <dcterms:created xsi:type="dcterms:W3CDTF">2013-01-27T09:14:16Z</dcterms:created>
  <dcterms:modified xsi:type="dcterms:W3CDTF">2025-10-28T01:47:04Z</dcterms:modified>
  <cp:category/>
</cp:coreProperties>
</file>